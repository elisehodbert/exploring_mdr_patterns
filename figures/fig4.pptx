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7" r:id="rId4"/>
    <p:sldId id="260" r:id="rId5"/>
    <p:sldId id="258" r:id="rId6"/>
    <p:sldId id="259" r:id="rId7"/>
  </p:sldIdLst>
  <p:sldSz cx="12599988" cy="8640763"/>
  <p:notesSz cx="6858000" cy="9144000"/>
  <p:custDataLst>
    <p:tags r:id="rId9"/>
  </p:custDataLst>
  <p:defaultTextStyle>
    <a:defPPr>
      <a:defRPr lang="en-US"/>
    </a:defPPr>
    <a:lvl1pPr marL="0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1pPr>
    <a:lvl2pPr marL="583248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2pPr>
    <a:lvl3pPr marL="1166494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3pPr>
    <a:lvl4pPr marL="1749742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4pPr>
    <a:lvl5pPr marL="2332989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5pPr>
    <a:lvl6pPr marL="2916237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6pPr>
    <a:lvl7pPr marL="3499484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7pPr>
    <a:lvl8pPr marL="4082731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8pPr>
    <a:lvl9pPr marL="4665979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22" userDrawn="1">
          <p15:clr>
            <a:srgbClr val="A4A3A4"/>
          </p15:clr>
        </p15:guide>
        <p15:guide id="2" pos="3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13" autoAdjust="0"/>
  </p:normalViewPr>
  <p:slideViewPr>
    <p:cSldViewPr>
      <p:cViewPr>
        <p:scale>
          <a:sx n="50" d="100"/>
          <a:sy n="50" d="100"/>
        </p:scale>
        <p:origin x="2814" y="1044"/>
      </p:cViewPr>
      <p:guideLst>
        <p:guide orient="horz" pos="2722"/>
        <p:guide pos="39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1AE48D-D7D9-46F8-80AC-255986AD24D4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1143000"/>
            <a:ext cx="4498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1E9922-CB52-49F7-BA04-8363A23E0C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6386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1E9922-CB52-49F7-BA04-8363A23E0C72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5228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1E9922-CB52-49F7-BA04-8363A23E0C72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3006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5000" y="2684241"/>
            <a:ext cx="10709990" cy="18521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0001" y="4896436"/>
            <a:ext cx="8819991" cy="22081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67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334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00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66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335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600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66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33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316" y="5552494"/>
            <a:ext cx="10709990" cy="1716152"/>
          </a:xfrm>
        </p:spPr>
        <p:txBody>
          <a:bodyPr anchor="t"/>
          <a:lstStyle>
            <a:lvl1pPr algn="l">
              <a:defRPr sz="2333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16" y="3662328"/>
            <a:ext cx="10709990" cy="1890166"/>
          </a:xfrm>
        </p:spPr>
        <p:txBody>
          <a:bodyPr anchor="b"/>
          <a:lstStyle>
            <a:lvl1pPr marL="0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1pPr>
            <a:lvl2pPr marL="266704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5334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3pPr>
            <a:lvl4pPr marL="800110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4pPr>
            <a:lvl5pPr marL="1066813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5pPr>
            <a:lvl6pPr marL="1333517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6pPr>
            <a:lvl7pPr marL="1600220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7pPr>
            <a:lvl8pPr marL="1866924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8pPr>
            <a:lvl9pPr marL="2133627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0000" y="2016180"/>
            <a:ext cx="5564994" cy="5702504"/>
          </a:xfrm>
        </p:spPr>
        <p:txBody>
          <a:bodyPr/>
          <a:lstStyle>
            <a:lvl1pPr>
              <a:defRPr sz="1634"/>
            </a:lvl1pPr>
            <a:lvl2pPr>
              <a:defRPr sz="1400"/>
            </a:lvl2pPr>
            <a:lvl3pPr>
              <a:defRPr sz="1167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4997" y="2016180"/>
            <a:ext cx="5564994" cy="5702504"/>
          </a:xfrm>
        </p:spPr>
        <p:txBody>
          <a:bodyPr/>
          <a:lstStyle>
            <a:lvl1pPr>
              <a:defRPr sz="1634"/>
            </a:lvl1pPr>
            <a:lvl2pPr>
              <a:defRPr sz="1400"/>
            </a:lvl2pPr>
            <a:lvl3pPr>
              <a:defRPr sz="1167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2" y="1934175"/>
            <a:ext cx="5567183" cy="806070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6704" indent="0">
              <a:buNone/>
              <a:defRPr sz="1167" b="1"/>
            </a:lvl2pPr>
            <a:lvl3pPr marL="533407" indent="0">
              <a:buNone/>
              <a:defRPr sz="1050" b="1"/>
            </a:lvl3pPr>
            <a:lvl4pPr marL="800110" indent="0">
              <a:buNone/>
              <a:defRPr sz="933" b="1"/>
            </a:lvl4pPr>
            <a:lvl5pPr marL="1066813" indent="0">
              <a:buNone/>
              <a:defRPr sz="933" b="1"/>
            </a:lvl5pPr>
            <a:lvl6pPr marL="1333517" indent="0">
              <a:buNone/>
              <a:defRPr sz="933" b="1"/>
            </a:lvl6pPr>
            <a:lvl7pPr marL="1600220" indent="0">
              <a:buNone/>
              <a:defRPr sz="933" b="1"/>
            </a:lvl7pPr>
            <a:lvl8pPr marL="1866924" indent="0">
              <a:buNone/>
              <a:defRPr sz="933" b="1"/>
            </a:lvl8pPr>
            <a:lvl9pPr marL="2133627" indent="0">
              <a:buNone/>
              <a:defRPr sz="9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002" y="2740242"/>
            <a:ext cx="5567183" cy="4978440"/>
          </a:xfrm>
        </p:spPr>
        <p:txBody>
          <a:bodyPr/>
          <a:lstStyle>
            <a:lvl1pPr>
              <a:defRPr sz="1400"/>
            </a:lvl1pPr>
            <a:lvl2pPr>
              <a:defRPr sz="1167"/>
            </a:lvl2pPr>
            <a:lvl3pPr>
              <a:defRPr sz="1050"/>
            </a:lvl3pPr>
            <a:lvl4pPr>
              <a:defRPr sz="933"/>
            </a:lvl4pPr>
            <a:lvl5pPr>
              <a:defRPr sz="933"/>
            </a:lvl5pPr>
            <a:lvl6pPr>
              <a:defRPr sz="933"/>
            </a:lvl6pPr>
            <a:lvl7pPr>
              <a:defRPr sz="933"/>
            </a:lvl7pPr>
            <a:lvl8pPr>
              <a:defRPr sz="933"/>
            </a:lvl8pPr>
            <a:lvl9pPr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627" y="1934175"/>
            <a:ext cx="5569369" cy="806070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6704" indent="0">
              <a:buNone/>
              <a:defRPr sz="1167" b="1"/>
            </a:lvl2pPr>
            <a:lvl3pPr marL="533407" indent="0">
              <a:buNone/>
              <a:defRPr sz="1050" b="1"/>
            </a:lvl3pPr>
            <a:lvl4pPr marL="800110" indent="0">
              <a:buNone/>
              <a:defRPr sz="933" b="1"/>
            </a:lvl4pPr>
            <a:lvl5pPr marL="1066813" indent="0">
              <a:buNone/>
              <a:defRPr sz="933" b="1"/>
            </a:lvl5pPr>
            <a:lvl6pPr marL="1333517" indent="0">
              <a:buNone/>
              <a:defRPr sz="933" b="1"/>
            </a:lvl6pPr>
            <a:lvl7pPr marL="1600220" indent="0">
              <a:buNone/>
              <a:defRPr sz="933" b="1"/>
            </a:lvl7pPr>
            <a:lvl8pPr marL="1866924" indent="0">
              <a:buNone/>
              <a:defRPr sz="933" b="1"/>
            </a:lvl8pPr>
            <a:lvl9pPr marL="2133627" indent="0">
              <a:buNone/>
              <a:defRPr sz="9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00627" y="2740242"/>
            <a:ext cx="5569369" cy="4978440"/>
          </a:xfrm>
        </p:spPr>
        <p:txBody>
          <a:bodyPr/>
          <a:lstStyle>
            <a:lvl1pPr>
              <a:defRPr sz="1400"/>
            </a:lvl1pPr>
            <a:lvl2pPr>
              <a:defRPr sz="1167"/>
            </a:lvl2pPr>
            <a:lvl3pPr>
              <a:defRPr sz="1050"/>
            </a:lvl3pPr>
            <a:lvl4pPr>
              <a:defRPr sz="933"/>
            </a:lvl4pPr>
            <a:lvl5pPr>
              <a:defRPr sz="933"/>
            </a:lvl5pPr>
            <a:lvl6pPr>
              <a:defRPr sz="933"/>
            </a:lvl6pPr>
            <a:lvl7pPr>
              <a:defRPr sz="933"/>
            </a:lvl7pPr>
            <a:lvl8pPr>
              <a:defRPr sz="933"/>
            </a:lvl8pPr>
            <a:lvl9pPr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0001" y="346034"/>
            <a:ext cx="11339990" cy="14401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1" y="2016180"/>
            <a:ext cx="11339990" cy="5702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0004" y="8008708"/>
            <a:ext cx="2939997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4999" y="8008708"/>
            <a:ext cx="3989997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29996" y="8008708"/>
            <a:ext cx="2939997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533407" rtl="0" eaLnBrk="1" latinLnBrk="0" hangingPunct="1">
        <a:spcBef>
          <a:spcPct val="0"/>
        </a:spcBef>
        <a:buNone/>
        <a:defRPr sz="25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027" indent="-200027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33393" indent="-166690" algn="l" defTabSz="53340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34" kern="1200">
          <a:solidFill>
            <a:schemeClr val="tx1"/>
          </a:solidFill>
          <a:latin typeface="+mn-lt"/>
          <a:ea typeface="+mn-ea"/>
          <a:cs typeface="+mn-cs"/>
        </a:defRPr>
      </a:lvl2pPr>
      <a:lvl3pPr marL="666759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33461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–"/>
        <a:defRPr sz="1167" kern="1200">
          <a:solidFill>
            <a:schemeClr val="tx1"/>
          </a:solidFill>
          <a:latin typeface="+mn-lt"/>
          <a:ea typeface="+mn-ea"/>
          <a:cs typeface="+mn-cs"/>
        </a:defRPr>
      </a:lvl4pPr>
      <a:lvl5pPr marL="1200165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»"/>
        <a:defRPr sz="1167" kern="1200">
          <a:solidFill>
            <a:schemeClr val="tx1"/>
          </a:solidFill>
          <a:latin typeface="+mn-lt"/>
          <a:ea typeface="+mn-ea"/>
          <a:cs typeface="+mn-cs"/>
        </a:defRPr>
      </a:lvl5pPr>
      <a:lvl6pPr marL="1466868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67" kern="1200">
          <a:solidFill>
            <a:schemeClr val="tx1"/>
          </a:solidFill>
          <a:latin typeface="+mn-lt"/>
          <a:ea typeface="+mn-ea"/>
          <a:cs typeface="+mn-cs"/>
        </a:defRPr>
      </a:lvl6pPr>
      <a:lvl7pPr marL="1733572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67" kern="1200">
          <a:solidFill>
            <a:schemeClr val="tx1"/>
          </a:solidFill>
          <a:latin typeface="+mn-lt"/>
          <a:ea typeface="+mn-ea"/>
          <a:cs typeface="+mn-cs"/>
        </a:defRPr>
      </a:lvl7pPr>
      <a:lvl8pPr marL="2000275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67" kern="1200">
          <a:solidFill>
            <a:schemeClr val="tx1"/>
          </a:solidFill>
          <a:latin typeface="+mn-lt"/>
          <a:ea typeface="+mn-ea"/>
          <a:cs typeface="+mn-cs"/>
        </a:defRPr>
      </a:lvl8pPr>
      <a:lvl9pPr marL="2266979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66704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7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00110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066813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333517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20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866924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133627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24.png"/><Relationship Id="rId4" Type="http://schemas.openxmlformats.org/officeDocument/2006/relationships/image" Target="../media/image13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ZoneTexte 2271">
            <a:extLst>
              <a:ext uri="{FF2B5EF4-FFF2-40B4-BE49-F238E27FC236}">
                <a16:creationId xmlns:a16="http://schemas.microsoft.com/office/drawing/2014/main" id="{80159BC2-C0F4-4CCA-AD29-6960052B70B8}"/>
              </a:ext>
            </a:extLst>
          </p:cNvPr>
          <p:cNvSpPr txBox="1"/>
          <p:nvPr/>
        </p:nvSpPr>
        <p:spPr>
          <a:xfrm>
            <a:off x="-15119" y="5064881"/>
            <a:ext cx="77107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 dirty="0">
                <a:latin typeface="Arial"/>
                <a:cs typeface="Arial"/>
              </a:rPr>
              <a:t>Non-ESBL </a:t>
            </a:r>
            <a:r>
              <a:rPr lang="fr-FR" sz="1400" b="1" i="1" dirty="0">
                <a:latin typeface="Arial"/>
                <a:cs typeface="Arial"/>
              </a:rPr>
              <a:t>E. coli</a:t>
            </a:r>
            <a:endParaRPr lang="fr-FR" sz="1400" i="1" dirty="0"/>
          </a:p>
        </p:txBody>
      </p:sp>
      <p:sp>
        <p:nvSpPr>
          <p:cNvPr id="2273" name="ZoneTexte 2272">
            <a:extLst>
              <a:ext uri="{FF2B5EF4-FFF2-40B4-BE49-F238E27FC236}">
                <a16:creationId xmlns:a16="http://schemas.microsoft.com/office/drawing/2014/main" id="{4D5B0682-7D5B-4984-B73D-B7BF3B44BE99}"/>
              </a:ext>
            </a:extLst>
          </p:cNvPr>
          <p:cNvSpPr txBox="1"/>
          <p:nvPr/>
        </p:nvSpPr>
        <p:spPr>
          <a:xfrm>
            <a:off x="-3914" y="1772124"/>
            <a:ext cx="7710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 dirty="0">
                <a:latin typeface="Arial"/>
                <a:cs typeface="Arial"/>
              </a:rPr>
              <a:t>ESBL </a:t>
            </a:r>
            <a:r>
              <a:rPr lang="fr-FR" sz="1400" b="1" i="1" dirty="0">
                <a:latin typeface="Arial"/>
                <a:cs typeface="Arial"/>
              </a:rPr>
              <a:t>E. coli</a:t>
            </a:r>
            <a:endParaRPr lang="fr-FR" sz="1400" i="1" dirty="0"/>
          </a:p>
        </p:txBody>
      </p:sp>
      <p:sp>
        <p:nvSpPr>
          <p:cNvPr id="2274" name="ZoneTexte 2273">
            <a:extLst>
              <a:ext uri="{FF2B5EF4-FFF2-40B4-BE49-F238E27FC236}">
                <a16:creationId xmlns:a16="http://schemas.microsoft.com/office/drawing/2014/main" id="{C466ED8C-D3A6-4DCB-B121-931B3B5348B0}"/>
              </a:ext>
            </a:extLst>
          </p:cNvPr>
          <p:cNvSpPr txBox="1"/>
          <p:nvPr/>
        </p:nvSpPr>
        <p:spPr>
          <a:xfrm>
            <a:off x="1562172" y="806981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2018</a:t>
            </a:r>
          </a:p>
        </p:txBody>
      </p:sp>
      <p:sp>
        <p:nvSpPr>
          <p:cNvPr id="2275" name="ZoneTexte 2274">
            <a:extLst>
              <a:ext uri="{FF2B5EF4-FFF2-40B4-BE49-F238E27FC236}">
                <a16:creationId xmlns:a16="http://schemas.microsoft.com/office/drawing/2014/main" id="{A5B24D3A-5F13-4398-B482-F2CB5FC25B3D}"/>
              </a:ext>
            </a:extLst>
          </p:cNvPr>
          <p:cNvSpPr txBox="1"/>
          <p:nvPr/>
        </p:nvSpPr>
        <p:spPr>
          <a:xfrm>
            <a:off x="3875066" y="806981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2019</a:t>
            </a:r>
          </a:p>
        </p:txBody>
      </p:sp>
      <p:sp>
        <p:nvSpPr>
          <p:cNvPr id="2276" name="ZoneTexte 2275">
            <a:extLst>
              <a:ext uri="{FF2B5EF4-FFF2-40B4-BE49-F238E27FC236}">
                <a16:creationId xmlns:a16="http://schemas.microsoft.com/office/drawing/2014/main" id="{356CFDE3-174D-4DFD-AD6B-4870B81BF63B}"/>
              </a:ext>
            </a:extLst>
          </p:cNvPr>
          <p:cNvSpPr txBox="1"/>
          <p:nvPr/>
        </p:nvSpPr>
        <p:spPr>
          <a:xfrm>
            <a:off x="6187960" y="806980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2020</a:t>
            </a:r>
          </a:p>
        </p:txBody>
      </p:sp>
      <p:sp>
        <p:nvSpPr>
          <p:cNvPr id="2277" name="ZoneTexte 2276">
            <a:extLst>
              <a:ext uri="{FF2B5EF4-FFF2-40B4-BE49-F238E27FC236}">
                <a16:creationId xmlns:a16="http://schemas.microsoft.com/office/drawing/2014/main" id="{8A7B677F-3588-4305-ABC6-B5D8B624BF15}"/>
              </a:ext>
            </a:extLst>
          </p:cNvPr>
          <p:cNvSpPr txBox="1"/>
          <p:nvPr/>
        </p:nvSpPr>
        <p:spPr>
          <a:xfrm>
            <a:off x="8500854" y="806981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2021</a:t>
            </a:r>
          </a:p>
        </p:txBody>
      </p:sp>
      <p:sp>
        <p:nvSpPr>
          <p:cNvPr id="2278" name="ZoneTexte 2277">
            <a:extLst>
              <a:ext uri="{FF2B5EF4-FFF2-40B4-BE49-F238E27FC236}">
                <a16:creationId xmlns:a16="http://schemas.microsoft.com/office/drawing/2014/main" id="{A3755FBE-FCE5-4770-ADB2-A8AE9718B847}"/>
              </a:ext>
            </a:extLst>
          </p:cNvPr>
          <p:cNvSpPr txBox="1"/>
          <p:nvPr/>
        </p:nvSpPr>
        <p:spPr>
          <a:xfrm>
            <a:off x="10813748" y="800570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2022</a:t>
            </a:r>
          </a:p>
        </p:txBody>
      </p:sp>
      <p:graphicFrame>
        <p:nvGraphicFramePr>
          <p:cNvPr id="2279" name="Tableau 3">
            <a:extLst>
              <a:ext uri="{FF2B5EF4-FFF2-40B4-BE49-F238E27FC236}">
                <a16:creationId xmlns:a16="http://schemas.microsoft.com/office/drawing/2014/main" id="{3BD65C66-0112-4A0E-A45D-D3CBDCED6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257875"/>
              </p:ext>
            </p:extLst>
          </p:nvPr>
        </p:nvGraphicFramePr>
        <p:xfrm>
          <a:off x="-3914" y="3497365"/>
          <a:ext cx="1228057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482">
                  <a:extLst>
                    <a:ext uri="{9D8B030D-6E8A-4147-A177-3AD203B41FA5}">
                      <a16:colId xmlns:a16="http://schemas.microsoft.com/office/drawing/2014/main" val="1703629566"/>
                    </a:ext>
                  </a:extLst>
                </a:gridCol>
                <a:gridCol w="2495069">
                  <a:extLst>
                    <a:ext uri="{9D8B030D-6E8A-4147-A177-3AD203B41FA5}">
                      <a16:colId xmlns:a16="http://schemas.microsoft.com/office/drawing/2014/main" val="791467007"/>
                    </a:ext>
                  </a:extLst>
                </a:gridCol>
                <a:gridCol w="2323818">
                  <a:extLst>
                    <a:ext uri="{9D8B030D-6E8A-4147-A177-3AD203B41FA5}">
                      <a16:colId xmlns:a16="http://schemas.microsoft.com/office/drawing/2014/main" val="943490280"/>
                    </a:ext>
                  </a:extLst>
                </a:gridCol>
                <a:gridCol w="2218776">
                  <a:extLst>
                    <a:ext uri="{9D8B030D-6E8A-4147-A177-3AD203B41FA5}">
                      <a16:colId xmlns:a16="http://schemas.microsoft.com/office/drawing/2014/main" val="369987366"/>
                    </a:ext>
                  </a:extLst>
                </a:gridCol>
                <a:gridCol w="2280068">
                  <a:extLst>
                    <a:ext uri="{9D8B030D-6E8A-4147-A177-3AD203B41FA5}">
                      <a16:colId xmlns:a16="http://schemas.microsoft.com/office/drawing/2014/main" val="3615940755"/>
                    </a:ext>
                  </a:extLst>
                </a:gridCol>
                <a:gridCol w="2282359">
                  <a:extLst>
                    <a:ext uri="{9D8B030D-6E8A-4147-A177-3AD203B41FA5}">
                      <a16:colId xmlns:a16="http://schemas.microsoft.com/office/drawing/2014/main" val="704438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sz="14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0.238 [0.234; 0.249]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0.285 [0.283; 0.285]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0.281 [0.266; 0.290]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0.292 [0.288; 0.293]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noProof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0.301 [0.294; 0.302]</a:t>
                      </a:r>
                      <a:endParaRPr lang="fr-FR" sz="14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648593"/>
                  </a:ext>
                </a:extLst>
              </a:tr>
            </a:tbl>
          </a:graphicData>
        </a:graphic>
      </p:graphicFrame>
      <p:graphicFrame>
        <p:nvGraphicFramePr>
          <p:cNvPr id="2280" name="Tableau 3">
            <a:extLst>
              <a:ext uri="{FF2B5EF4-FFF2-40B4-BE49-F238E27FC236}">
                <a16:creationId xmlns:a16="http://schemas.microsoft.com/office/drawing/2014/main" id="{45A18D6B-9D9F-43E2-B31B-003BA3742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309441"/>
              </p:ext>
            </p:extLst>
          </p:nvPr>
        </p:nvGraphicFramePr>
        <p:xfrm>
          <a:off x="-21172" y="6468991"/>
          <a:ext cx="1221317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909">
                  <a:extLst>
                    <a:ext uri="{9D8B030D-6E8A-4147-A177-3AD203B41FA5}">
                      <a16:colId xmlns:a16="http://schemas.microsoft.com/office/drawing/2014/main" val="1703629566"/>
                    </a:ext>
                  </a:extLst>
                </a:gridCol>
                <a:gridCol w="2476212">
                  <a:extLst>
                    <a:ext uri="{9D8B030D-6E8A-4147-A177-3AD203B41FA5}">
                      <a16:colId xmlns:a16="http://schemas.microsoft.com/office/drawing/2014/main" val="791467007"/>
                    </a:ext>
                  </a:extLst>
                </a:gridCol>
                <a:gridCol w="2311063">
                  <a:extLst>
                    <a:ext uri="{9D8B030D-6E8A-4147-A177-3AD203B41FA5}">
                      <a16:colId xmlns:a16="http://schemas.microsoft.com/office/drawing/2014/main" val="943490280"/>
                    </a:ext>
                  </a:extLst>
                </a:gridCol>
                <a:gridCol w="2206598">
                  <a:extLst>
                    <a:ext uri="{9D8B030D-6E8A-4147-A177-3AD203B41FA5}">
                      <a16:colId xmlns:a16="http://schemas.microsoft.com/office/drawing/2014/main" val="369987366"/>
                    </a:ext>
                  </a:extLst>
                </a:gridCol>
                <a:gridCol w="2267555">
                  <a:extLst>
                    <a:ext uri="{9D8B030D-6E8A-4147-A177-3AD203B41FA5}">
                      <a16:colId xmlns:a16="http://schemas.microsoft.com/office/drawing/2014/main" val="3615940755"/>
                    </a:ext>
                  </a:extLst>
                </a:gridCol>
                <a:gridCol w="2269833">
                  <a:extLst>
                    <a:ext uri="{9D8B030D-6E8A-4147-A177-3AD203B41FA5}">
                      <a16:colId xmlns:a16="http://schemas.microsoft.com/office/drawing/2014/main" val="704438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fr-FR" sz="14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0.074 [0.074; 0.074]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0.091 [0.091; 0.091]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0.088 [0.088; 0.088]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0.097 [0.097; 0.097]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0.100 [0.100; 0.103]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648593"/>
                  </a:ext>
                </a:extLst>
              </a:tr>
            </a:tbl>
          </a:graphicData>
        </a:graphic>
      </p:graphicFrame>
      <p:sp>
        <p:nvSpPr>
          <p:cNvPr id="2281" name="ZoneTexte 2280">
            <a:extLst>
              <a:ext uri="{FF2B5EF4-FFF2-40B4-BE49-F238E27FC236}">
                <a16:creationId xmlns:a16="http://schemas.microsoft.com/office/drawing/2014/main" id="{DD2B28B0-AA25-47AD-8261-896136FAE9FA}"/>
              </a:ext>
            </a:extLst>
          </p:cNvPr>
          <p:cNvSpPr txBox="1"/>
          <p:nvPr/>
        </p:nvSpPr>
        <p:spPr>
          <a:xfrm>
            <a:off x="-12700" y="3493881"/>
            <a:ext cx="8763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dirty="0">
                <a:latin typeface="Arial"/>
                <a:cs typeface="Arial"/>
              </a:rPr>
              <a:t>Density</a:t>
            </a:r>
            <a:endParaRPr lang="fr-FR" sz="1400" dirty="0"/>
          </a:p>
        </p:txBody>
      </p:sp>
      <p:sp>
        <p:nvSpPr>
          <p:cNvPr id="2282" name="ZoneTexte 2281">
            <a:extLst>
              <a:ext uri="{FF2B5EF4-FFF2-40B4-BE49-F238E27FC236}">
                <a16:creationId xmlns:a16="http://schemas.microsoft.com/office/drawing/2014/main" id="{41637080-7E3C-44CE-A6C3-94ECC9541576}"/>
              </a:ext>
            </a:extLst>
          </p:cNvPr>
          <p:cNvSpPr txBox="1"/>
          <p:nvPr/>
        </p:nvSpPr>
        <p:spPr>
          <a:xfrm>
            <a:off x="-12700" y="6468991"/>
            <a:ext cx="8763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dirty="0">
                <a:latin typeface="Arial"/>
                <a:cs typeface="Arial"/>
              </a:rPr>
              <a:t>Density</a:t>
            </a:r>
            <a:endParaRPr lang="fr-FR" sz="1400" dirty="0"/>
          </a:p>
        </p:txBody>
      </p:sp>
      <p:pic>
        <p:nvPicPr>
          <p:cNvPr id="2283" name="Image 2282">
            <a:extLst>
              <a:ext uri="{FF2B5EF4-FFF2-40B4-BE49-F238E27FC236}">
                <a16:creationId xmlns:a16="http://schemas.microsoft.com/office/drawing/2014/main" id="{F1302604-DB1E-4EA3-85C7-6B69899FED0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3" t="10721" r="7870" b="13188"/>
          <a:stretch/>
        </p:blipFill>
        <p:spPr>
          <a:xfrm>
            <a:off x="875421" y="1220177"/>
            <a:ext cx="2172909" cy="2075628"/>
          </a:xfrm>
          <a:prstGeom prst="rect">
            <a:avLst/>
          </a:prstGeom>
        </p:spPr>
      </p:pic>
      <p:pic>
        <p:nvPicPr>
          <p:cNvPr id="2284" name="Image 2283">
            <a:extLst>
              <a:ext uri="{FF2B5EF4-FFF2-40B4-BE49-F238E27FC236}">
                <a16:creationId xmlns:a16="http://schemas.microsoft.com/office/drawing/2014/main" id="{DCC2907E-5CA0-4324-A5CD-C12987BE1B9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1" t="10381" r="7898" b="13155"/>
          <a:stretch/>
        </p:blipFill>
        <p:spPr>
          <a:xfrm>
            <a:off x="858951" y="4161978"/>
            <a:ext cx="2177515" cy="2126387"/>
          </a:xfrm>
          <a:prstGeom prst="rect">
            <a:avLst/>
          </a:prstGeom>
        </p:spPr>
      </p:pic>
      <p:pic>
        <p:nvPicPr>
          <p:cNvPr id="2285" name="Image 2284">
            <a:extLst>
              <a:ext uri="{FF2B5EF4-FFF2-40B4-BE49-F238E27FC236}">
                <a16:creationId xmlns:a16="http://schemas.microsoft.com/office/drawing/2014/main" id="{90A4B6A7-D505-4A20-ADDA-497FB7217E2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3" t="10721" r="7870" b="13188"/>
          <a:stretch/>
        </p:blipFill>
        <p:spPr>
          <a:xfrm>
            <a:off x="3162673" y="1220177"/>
            <a:ext cx="2172909" cy="2075628"/>
          </a:xfrm>
          <a:prstGeom prst="rect">
            <a:avLst/>
          </a:prstGeom>
        </p:spPr>
      </p:pic>
      <p:pic>
        <p:nvPicPr>
          <p:cNvPr id="2286" name="Image 2285">
            <a:extLst>
              <a:ext uri="{FF2B5EF4-FFF2-40B4-BE49-F238E27FC236}">
                <a16:creationId xmlns:a16="http://schemas.microsoft.com/office/drawing/2014/main" id="{D9924561-DA17-411B-9048-BB8851F29CD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1" t="10381" r="7474" b="13155"/>
          <a:stretch/>
        </p:blipFill>
        <p:spPr>
          <a:xfrm>
            <a:off x="3120949" y="4161978"/>
            <a:ext cx="2189316" cy="2126387"/>
          </a:xfrm>
          <a:prstGeom prst="rect">
            <a:avLst/>
          </a:prstGeom>
        </p:spPr>
      </p:pic>
      <p:pic>
        <p:nvPicPr>
          <p:cNvPr id="2287" name="Image 2286">
            <a:extLst>
              <a:ext uri="{FF2B5EF4-FFF2-40B4-BE49-F238E27FC236}">
                <a16:creationId xmlns:a16="http://schemas.microsoft.com/office/drawing/2014/main" id="{2BFFA536-3B1B-47B8-A062-85544907E98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43" t="10721" r="7006" b="13399"/>
          <a:stretch/>
        </p:blipFill>
        <p:spPr>
          <a:xfrm>
            <a:off x="5449925" y="1223043"/>
            <a:ext cx="2208239" cy="2069896"/>
          </a:xfrm>
          <a:prstGeom prst="rect">
            <a:avLst/>
          </a:prstGeom>
        </p:spPr>
      </p:pic>
      <p:pic>
        <p:nvPicPr>
          <p:cNvPr id="2288" name="Image 2287">
            <a:extLst>
              <a:ext uri="{FF2B5EF4-FFF2-40B4-BE49-F238E27FC236}">
                <a16:creationId xmlns:a16="http://schemas.microsoft.com/office/drawing/2014/main" id="{7DAE70A5-1BF5-4837-8D81-D12C12EA2C35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19" t="10381" r="9129" b="13155"/>
          <a:stretch/>
        </p:blipFill>
        <p:spPr>
          <a:xfrm>
            <a:off x="5394747" y="4161978"/>
            <a:ext cx="2209488" cy="2126387"/>
          </a:xfrm>
          <a:prstGeom prst="rect">
            <a:avLst/>
          </a:prstGeom>
        </p:spPr>
      </p:pic>
      <p:pic>
        <p:nvPicPr>
          <p:cNvPr id="2289" name="Image 2288">
            <a:extLst>
              <a:ext uri="{FF2B5EF4-FFF2-40B4-BE49-F238E27FC236}">
                <a16:creationId xmlns:a16="http://schemas.microsoft.com/office/drawing/2014/main" id="{7B23469B-670B-42FC-AEC8-15F8EA3BA05A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43" t="10721" r="7006" b="13399"/>
          <a:stretch/>
        </p:blipFill>
        <p:spPr>
          <a:xfrm>
            <a:off x="7772507" y="1223043"/>
            <a:ext cx="2208239" cy="2069896"/>
          </a:xfrm>
          <a:prstGeom prst="rect">
            <a:avLst/>
          </a:prstGeom>
        </p:spPr>
      </p:pic>
      <p:pic>
        <p:nvPicPr>
          <p:cNvPr id="2290" name="Image 2289">
            <a:extLst>
              <a:ext uri="{FF2B5EF4-FFF2-40B4-BE49-F238E27FC236}">
                <a16:creationId xmlns:a16="http://schemas.microsoft.com/office/drawing/2014/main" id="{61C7737B-5B0D-4A9E-B08B-0AFD6C6B49FC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1" t="10381" r="8993" b="13155"/>
          <a:stretch/>
        </p:blipFill>
        <p:spPr>
          <a:xfrm>
            <a:off x="7688718" y="4161978"/>
            <a:ext cx="2147074" cy="2126387"/>
          </a:xfrm>
          <a:prstGeom prst="rect">
            <a:avLst/>
          </a:prstGeom>
        </p:spPr>
      </p:pic>
      <p:pic>
        <p:nvPicPr>
          <p:cNvPr id="2291" name="Image 2290">
            <a:extLst>
              <a:ext uri="{FF2B5EF4-FFF2-40B4-BE49-F238E27FC236}">
                <a16:creationId xmlns:a16="http://schemas.microsoft.com/office/drawing/2014/main" id="{53EEA248-21B2-41A5-B276-AA0E8E1A2D5D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5" t="10721" r="9835" b="13399"/>
          <a:stretch/>
        </p:blipFill>
        <p:spPr>
          <a:xfrm>
            <a:off x="10095088" y="1223043"/>
            <a:ext cx="2096912" cy="2069896"/>
          </a:xfrm>
          <a:prstGeom prst="rect">
            <a:avLst/>
          </a:prstGeom>
        </p:spPr>
      </p:pic>
      <p:pic>
        <p:nvPicPr>
          <p:cNvPr id="2292" name="Image 2291">
            <a:extLst>
              <a:ext uri="{FF2B5EF4-FFF2-40B4-BE49-F238E27FC236}">
                <a16:creationId xmlns:a16="http://schemas.microsoft.com/office/drawing/2014/main" id="{09D900BA-1AD0-4D51-9862-03CB7DF837AA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20" t="10382" r="6891" b="13156"/>
          <a:stretch/>
        </p:blipFill>
        <p:spPr>
          <a:xfrm>
            <a:off x="9920274" y="4161978"/>
            <a:ext cx="2271726" cy="2126387"/>
          </a:xfrm>
          <a:prstGeom prst="rect">
            <a:avLst/>
          </a:pr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A4BFAB79-DCFA-46DA-9E2F-812571AF4DC3}"/>
              </a:ext>
            </a:extLst>
          </p:cNvPr>
          <p:cNvGrpSpPr/>
          <p:nvPr/>
        </p:nvGrpSpPr>
        <p:grpSpPr>
          <a:xfrm>
            <a:off x="-11761" y="7029150"/>
            <a:ext cx="13080507" cy="3267895"/>
            <a:chOff x="-11761" y="7029150"/>
            <a:chExt cx="14496366" cy="3853226"/>
          </a:xfrm>
        </p:grpSpPr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C7E03C22-9B5D-4E52-9105-A91C324EA5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98" t="44126" r="17367" b="45674"/>
            <a:stretch/>
          </p:blipFill>
          <p:spPr>
            <a:xfrm>
              <a:off x="7110605" y="9267786"/>
              <a:ext cx="6822810" cy="781737"/>
            </a:xfrm>
            <a:prstGeom prst="rect">
              <a:avLst/>
            </a:prstGeom>
          </p:spPr>
        </p:pic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B1F55FBE-70F7-48C4-9694-B70938360A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98" t="44126" r="17368" b="45674"/>
            <a:stretch/>
          </p:blipFill>
          <p:spPr>
            <a:xfrm>
              <a:off x="-11761" y="10100639"/>
              <a:ext cx="6822809" cy="781737"/>
            </a:xfrm>
            <a:prstGeom prst="rect">
              <a:avLst/>
            </a:prstGeom>
          </p:spPr>
        </p:pic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791037B1-A7F4-42E7-AE7B-17AD444566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98" t="44126" r="17367" b="45674"/>
            <a:stretch/>
          </p:blipFill>
          <p:spPr>
            <a:xfrm>
              <a:off x="7110607" y="10100639"/>
              <a:ext cx="6822809" cy="781737"/>
            </a:xfrm>
            <a:prstGeom prst="rect">
              <a:avLst/>
            </a:prstGeom>
          </p:spPr>
        </p:pic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7B9B19AC-AFC1-4B5E-B8BE-6E521E2A1DF6}"/>
                </a:ext>
              </a:extLst>
            </p:cNvPr>
            <p:cNvGrpSpPr/>
            <p:nvPr/>
          </p:nvGrpSpPr>
          <p:grpSpPr>
            <a:xfrm>
              <a:off x="-11761" y="7029150"/>
              <a:ext cx="14496366" cy="2115159"/>
              <a:chOff x="15364749" y="12932770"/>
              <a:chExt cx="14910965" cy="2175653"/>
            </a:xfrm>
          </p:grpSpPr>
          <p:grpSp>
            <p:nvGrpSpPr>
              <p:cNvPr id="27" name="Groupe 26">
                <a:extLst>
                  <a:ext uri="{FF2B5EF4-FFF2-40B4-BE49-F238E27FC236}">
                    <a16:creationId xmlns:a16="http://schemas.microsoft.com/office/drawing/2014/main" id="{AB4AA599-4F1D-4158-B1C8-854AFB7E5061}"/>
                  </a:ext>
                </a:extLst>
              </p:cNvPr>
              <p:cNvGrpSpPr/>
              <p:nvPr/>
            </p:nvGrpSpPr>
            <p:grpSpPr>
              <a:xfrm>
                <a:off x="15364749" y="12932770"/>
                <a:ext cx="14910965" cy="2175653"/>
                <a:chOff x="15364749" y="12932770"/>
                <a:chExt cx="14910965" cy="2175653"/>
              </a:xfrm>
            </p:grpSpPr>
            <p:grpSp>
              <p:nvGrpSpPr>
                <p:cNvPr id="29" name="Groupe 28">
                  <a:extLst>
                    <a:ext uri="{FF2B5EF4-FFF2-40B4-BE49-F238E27FC236}">
                      <a16:creationId xmlns:a16="http://schemas.microsoft.com/office/drawing/2014/main" id="{4A3A7994-A374-4E74-AB8D-C4817C528119}"/>
                    </a:ext>
                  </a:extLst>
                </p:cNvPr>
                <p:cNvGrpSpPr/>
                <p:nvPr/>
              </p:nvGrpSpPr>
              <p:grpSpPr>
                <a:xfrm>
                  <a:off x="15364749" y="12932770"/>
                  <a:ext cx="14910965" cy="2175653"/>
                  <a:chOff x="-1" y="2208356"/>
                  <a:chExt cx="14910965" cy="2175653"/>
                </a:xfrm>
              </p:grpSpPr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DB30B550-AF2F-4D4F-8B9A-7131115A8E81}"/>
                      </a:ext>
                    </a:extLst>
                  </p:cNvPr>
                  <p:cNvSpPr/>
                  <p:nvPr/>
                </p:nvSpPr>
                <p:spPr>
                  <a:xfrm>
                    <a:off x="-1" y="2208356"/>
                    <a:ext cx="14344010" cy="2175653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/>
                  <a:p>
                    <a:endParaRPr lang="fr-FR" sz="389" dirty="0">
                      <a:solidFill>
                        <a:sysClr val="windowText" lastClr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CA321B79-7293-4C1D-B621-FC1B2740C90E}"/>
                      </a:ext>
                    </a:extLst>
                  </p:cNvPr>
                  <p:cNvSpPr/>
                  <p:nvPr/>
                </p:nvSpPr>
                <p:spPr>
                  <a:xfrm>
                    <a:off x="2431818" y="2365729"/>
                    <a:ext cx="534525" cy="317902"/>
                  </a:xfrm>
                  <a:prstGeom prst="rect">
                    <a:avLst/>
                  </a:prstGeom>
                  <a:solidFill>
                    <a:srgbClr val="DCDCDC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3" name="ZoneTexte 32">
                    <a:extLst>
                      <a:ext uri="{FF2B5EF4-FFF2-40B4-BE49-F238E27FC236}">
                        <a16:creationId xmlns:a16="http://schemas.microsoft.com/office/drawing/2014/main" id="{41FF9411-787A-4D84-8E90-8D6E04FE72EB}"/>
                      </a:ext>
                    </a:extLst>
                  </p:cNvPr>
                  <p:cNvSpPr txBox="1"/>
                  <p:nvPr/>
                </p:nvSpPr>
                <p:spPr>
                  <a:xfrm>
                    <a:off x="2966343" y="2347439"/>
                    <a:ext cx="1978959" cy="41061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6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% Not tested</a:t>
                    </a:r>
                  </a:p>
                </p:txBody>
              </p:sp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50E52BB0-313F-465C-9BF5-46010AAB3B24}"/>
                      </a:ext>
                    </a:extLst>
                  </p:cNvPr>
                  <p:cNvSpPr/>
                  <p:nvPr/>
                </p:nvSpPr>
                <p:spPr>
                  <a:xfrm>
                    <a:off x="6709544" y="2347439"/>
                    <a:ext cx="534525" cy="31790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" name="ZoneTexte 34">
                    <a:extLst>
                      <a:ext uri="{FF2B5EF4-FFF2-40B4-BE49-F238E27FC236}">
                        <a16:creationId xmlns:a16="http://schemas.microsoft.com/office/drawing/2014/main" id="{2F5D3678-58A4-422C-8A35-F2F2955D860E}"/>
                      </a:ext>
                    </a:extLst>
                  </p:cNvPr>
                  <p:cNvSpPr txBox="1"/>
                  <p:nvPr/>
                </p:nvSpPr>
                <p:spPr>
                  <a:xfrm>
                    <a:off x="7242395" y="2312982"/>
                    <a:ext cx="1978959" cy="41061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6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% Susceptible</a:t>
                    </a:r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56E1D182-CAE2-467D-82F2-1B3109A12135}"/>
                      </a:ext>
                    </a:extLst>
                  </p:cNvPr>
                  <p:cNvSpPr/>
                  <p:nvPr/>
                </p:nvSpPr>
                <p:spPr>
                  <a:xfrm>
                    <a:off x="10992549" y="2364412"/>
                    <a:ext cx="534525" cy="317902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23C997"/>
                      </a:gs>
                      <a:gs pos="7000">
                        <a:srgbClr val="DCB702"/>
                      </a:gs>
                      <a:gs pos="82000">
                        <a:srgbClr val="FF7F40"/>
                      </a:gs>
                      <a:gs pos="27000">
                        <a:srgbClr val="3E7CA5"/>
                      </a:gs>
                      <a:gs pos="16000">
                        <a:srgbClr val="7EC8E3"/>
                      </a:gs>
                      <a:gs pos="70000">
                        <a:srgbClr val="EE637F"/>
                      </a:gs>
                      <a:gs pos="59000">
                        <a:srgbClr val="62C966"/>
                      </a:gs>
                      <a:gs pos="47000">
                        <a:srgbClr val="B155A7"/>
                      </a:gs>
                      <a:gs pos="38000">
                        <a:srgbClr val="D38ACB"/>
                      </a:gs>
                      <a:gs pos="93000">
                        <a:srgbClr val="BCED54"/>
                      </a:gs>
                    </a:gsLst>
                    <a:lin ang="0" scaled="1"/>
                    <a:tileRect/>
                  </a:gra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972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7" name="ZoneTexte 36">
                    <a:extLst>
                      <a:ext uri="{FF2B5EF4-FFF2-40B4-BE49-F238E27FC236}">
                        <a16:creationId xmlns:a16="http://schemas.microsoft.com/office/drawing/2014/main" id="{8833109E-C617-41CD-963A-57E049FE18B2}"/>
                      </a:ext>
                    </a:extLst>
                  </p:cNvPr>
                  <p:cNvSpPr txBox="1"/>
                  <p:nvPr/>
                </p:nvSpPr>
                <p:spPr>
                  <a:xfrm>
                    <a:off x="11527074" y="2338697"/>
                    <a:ext cx="1978959" cy="41061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6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% Resistant</a:t>
                    </a:r>
                  </a:p>
                </p:txBody>
              </p:sp>
              <p:sp>
                <p:nvSpPr>
                  <p:cNvPr id="38" name="Ellipse 37">
                    <a:extLst>
                      <a:ext uri="{FF2B5EF4-FFF2-40B4-BE49-F238E27FC236}">
                        <a16:creationId xmlns:a16="http://schemas.microsoft.com/office/drawing/2014/main" id="{644C6C82-A9B6-49CC-97ED-9DFDE9B9CD48}"/>
                      </a:ext>
                    </a:extLst>
                  </p:cNvPr>
                  <p:cNvSpPr/>
                  <p:nvPr/>
                </p:nvSpPr>
                <p:spPr>
                  <a:xfrm>
                    <a:off x="78519" y="3361858"/>
                    <a:ext cx="210820" cy="210821"/>
                  </a:xfrm>
                  <a:prstGeom prst="ellipse">
                    <a:avLst/>
                  </a:prstGeom>
                  <a:solidFill>
                    <a:srgbClr val="23C99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" name="Ellipse 38">
                    <a:extLst>
                      <a:ext uri="{FF2B5EF4-FFF2-40B4-BE49-F238E27FC236}">
                        <a16:creationId xmlns:a16="http://schemas.microsoft.com/office/drawing/2014/main" id="{1B42492B-9548-4F46-B983-9515BC62A61E}"/>
                      </a:ext>
                    </a:extLst>
                  </p:cNvPr>
                  <p:cNvSpPr/>
                  <p:nvPr/>
                </p:nvSpPr>
                <p:spPr>
                  <a:xfrm>
                    <a:off x="3332763" y="3351544"/>
                    <a:ext cx="210820" cy="210820"/>
                  </a:xfrm>
                  <a:prstGeom prst="ellipse">
                    <a:avLst/>
                  </a:prstGeom>
                  <a:solidFill>
                    <a:srgbClr val="3E7CA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0" name="Ellipse 39">
                    <a:extLst>
                      <a:ext uri="{FF2B5EF4-FFF2-40B4-BE49-F238E27FC236}">
                        <a16:creationId xmlns:a16="http://schemas.microsoft.com/office/drawing/2014/main" id="{C534A962-4A5A-48BB-8214-DA5B020BDE3D}"/>
                      </a:ext>
                    </a:extLst>
                  </p:cNvPr>
                  <p:cNvSpPr/>
                  <p:nvPr/>
                </p:nvSpPr>
                <p:spPr>
                  <a:xfrm>
                    <a:off x="7203237" y="3361858"/>
                    <a:ext cx="210820" cy="210821"/>
                  </a:xfrm>
                  <a:prstGeom prst="ellipse">
                    <a:avLst/>
                  </a:prstGeom>
                  <a:solidFill>
                    <a:srgbClr val="B155A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1" name="Ellipse 40">
                    <a:extLst>
                      <a:ext uri="{FF2B5EF4-FFF2-40B4-BE49-F238E27FC236}">
                        <a16:creationId xmlns:a16="http://schemas.microsoft.com/office/drawing/2014/main" id="{3C785ED4-332F-4647-AE76-A407F5AEBD77}"/>
                      </a:ext>
                    </a:extLst>
                  </p:cNvPr>
                  <p:cNvSpPr/>
                  <p:nvPr/>
                </p:nvSpPr>
                <p:spPr>
                  <a:xfrm>
                    <a:off x="10765595" y="3361858"/>
                    <a:ext cx="210820" cy="210821"/>
                  </a:xfrm>
                  <a:prstGeom prst="ellipse">
                    <a:avLst/>
                  </a:prstGeom>
                  <a:solidFill>
                    <a:srgbClr val="FDAC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2" name="Ellipse 41">
                    <a:extLst>
                      <a:ext uri="{FF2B5EF4-FFF2-40B4-BE49-F238E27FC236}">
                        <a16:creationId xmlns:a16="http://schemas.microsoft.com/office/drawing/2014/main" id="{A3E2D571-D500-408A-8026-174FDB99A2D6}"/>
                      </a:ext>
                    </a:extLst>
                  </p:cNvPr>
                  <p:cNvSpPr/>
                  <p:nvPr/>
                </p:nvSpPr>
                <p:spPr>
                  <a:xfrm>
                    <a:off x="78519" y="3668355"/>
                    <a:ext cx="210820" cy="210821"/>
                  </a:xfrm>
                  <a:prstGeom prst="ellipse">
                    <a:avLst/>
                  </a:prstGeom>
                  <a:solidFill>
                    <a:srgbClr val="DCB70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3" name="Ellipse 42">
                    <a:extLst>
                      <a:ext uri="{FF2B5EF4-FFF2-40B4-BE49-F238E27FC236}">
                        <a16:creationId xmlns:a16="http://schemas.microsoft.com/office/drawing/2014/main" id="{654F718F-8AA6-4A32-8F47-ED0F732C1D4A}"/>
                      </a:ext>
                    </a:extLst>
                  </p:cNvPr>
                  <p:cNvSpPr/>
                  <p:nvPr/>
                </p:nvSpPr>
                <p:spPr>
                  <a:xfrm>
                    <a:off x="3332763" y="3658041"/>
                    <a:ext cx="210820" cy="210820"/>
                  </a:xfrm>
                  <a:prstGeom prst="ellipse">
                    <a:avLst/>
                  </a:prstGeom>
                  <a:solidFill>
                    <a:srgbClr val="F2B6EB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4" name="Ellipse 43">
                    <a:extLst>
                      <a:ext uri="{FF2B5EF4-FFF2-40B4-BE49-F238E27FC236}">
                        <a16:creationId xmlns:a16="http://schemas.microsoft.com/office/drawing/2014/main" id="{83C2E6CD-3F02-4E7D-B017-06BEF60FA54E}"/>
                      </a:ext>
                    </a:extLst>
                  </p:cNvPr>
                  <p:cNvSpPr/>
                  <p:nvPr/>
                </p:nvSpPr>
                <p:spPr>
                  <a:xfrm>
                    <a:off x="7203237" y="3668355"/>
                    <a:ext cx="210820" cy="210821"/>
                  </a:xfrm>
                  <a:prstGeom prst="ellipse">
                    <a:avLst/>
                  </a:prstGeom>
                  <a:solidFill>
                    <a:srgbClr val="62C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5" name="Ellipse 44">
                    <a:extLst>
                      <a:ext uri="{FF2B5EF4-FFF2-40B4-BE49-F238E27FC236}">
                        <a16:creationId xmlns:a16="http://schemas.microsoft.com/office/drawing/2014/main" id="{EF17DADB-B849-4B26-9E14-C29BC10C31C8}"/>
                      </a:ext>
                    </a:extLst>
                  </p:cNvPr>
                  <p:cNvSpPr/>
                  <p:nvPr/>
                </p:nvSpPr>
                <p:spPr>
                  <a:xfrm>
                    <a:off x="10765595" y="3668355"/>
                    <a:ext cx="210820" cy="210821"/>
                  </a:xfrm>
                  <a:prstGeom prst="ellipse">
                    <a:avLst/>
                  </a:prstGeom>
                  <a:solidFill>
                    <a:srgbClr val="FF7F4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6" name="Ellipse 45">
                    <a:extLst>
                      <a:ext uri="{FF2B5EF4-FFF2-40B4-BE49-F238E27FC236}">
                        <a16:creationId xmlns:a16="http://schemas.microsoft.com/office/drawing/2014/main" id="{F08DFCD7-F8B5-4689-BF10-B2B6B382C2B8}"/>
                      </a:ext>
                    </a:extLst>
                  </p:cNvPr>
                  <p:cNvSpPr/>
                  <p:nvPr/>
                </p:nvSpPr>
                <p:spPr>
                  <a:xfrm>
                    <a:off x="78519" y="3966357"/>
                    <a:ext cx="210820" cy="210821"/>
                  </a:xfrm>
                  <a:prstGeom prst="ellipse">
                    <a:avLst/>
                  </a:prstGeom>
                  <a:solidFill>
                    <a:srgbClr val="7EC8E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7" name="Ellipse 46">
                    <a:extLst>
                      <a:ext uri="{FF2B5EF4-FFF2-40B4-BE49-F238E27FC236}">
                        <a16:creationId xmlns:a16="http://schemas.microsoft.com/office/drawing/2014/main" id="{AF9068CC-8FB6-45F6-8998-F0D8BC4A4ADA}"/>
                      </a:ext>
                    </a:extLst>
                  </p:cNvPr>
                  <p:cNvSpPr/>
                  <p:nvPr/>
                </p:nvSpPr>
                <p:spPr>
                  <a:xfrm>
                    <a:off x="3332763" y="3956043"/>
                    <a:ext cx="210820" cy="210820"/>
                  </a:xfrm>
                  <a:prstGeom prst="ellipse">
                    <a:avLst/>
                  </a:prstGeom>
                  <a:solidFill>
                    <a:srgbClr val="D38ACB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8" name="Ellipse 47">
                    <a:extLst>
                      <a:ext uri="{FF2B5EF4-FFF2-40B4-BE49-F238E27FC236}">
                        <a16:creationId xmlns:a16="http://schemas.microsoft.com/office/drawing/2014/main" id="{F5DBDD97-F57E-4C03-B5AE-16C716C8EDF8}"/>
                      </a:ext>
                    </a:extLst>
                  </p:cNvPr>
                  <p:cNvSpPr/>
                  <p:nvPr/>
                </p:nvSpPr>
                <p:spPr>
                  <a:xfrm>
                    <a:off x="7203237" y="3966357"/>
                    <a:ext cx="210820" cy="210821"/>
                  </a:xfrm>
                  <a:prstGeom prst="ellipse">
                    <a:avLst/>
                  </a:prstGeom>
                  <a:solidFill>
                    <a:srgbClr val="EE637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9" name="Ellipse 48">
                    <a:extLst>
                      <a:ext uri="{FF2B5EF4-FFF2-40B4-BE49-F238E27FC236}">
                        <a16:creationId xmlns:a16="http://schemas.microsoft.com/office/drawing/2014/main" id="{FB427A11-76F0-4C62-A283-EAF0E82E261C}"/>
                      </a:ext>
                    </a:extLst>
                  </p:cNvPr>
                  <p:cNvSpPr/>
                  <p:nvPr/>
                </p:nvSpPr>
                <p:spPr>
                  <a:xfrm>
                    <a:off x="10765595" y="3966357"/>
                    <a:ext cx="210820" cy="210821"/>
                  </a:xfrm>
                  <a:prstGeom prst="ellipse">
                    <a:avLst/>
                  </a:prstGeom>
                  <a:solidFill>
                    <a:srgbClr val="BCED5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0" name="ZoneTexte 49">
                    <a:extLst>
                      <a:ext uri="{FF2B5EF4-FFF2-40B4-BE49-F238E27FC236}">
                        <a16:creationId xmlns:a16="http://schemas.microsoft.com/office/drawing/2014/main" id="{7DDD9FFA-5212-4D68-8671-603283CACB22}"/>
                      </a:ext>
                    </a:extLst>
                  </p:cNvPr>
                  <p:cNvSpPr txBox="1"/>
                  <p:nvPr/>
                </p:nvSpPr>
                <p:spPr>
                  <a:xfrm>
                    <a:off x="336006" y="3277035"/>
                    <a:ext cx="236167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Aminoglycoside</a:t>
                    </a:r>
                  </a:p>
                </p:txBody>
              </p:sp>
              <p:sp>
                <p:nvSpPr>
                  <p:cNvPr id="51" name="ZoneTexte 50">
                    <a:extLst>
                      <a:ext uri="{FF2B5EF4-FFF2-40B4-BE49-F238E27FC236}">
                        <a16:creationId xmlns:a16="http://schemas.microsoft.com/office/drawing/2014/main" id="{4FE7616A-DCAE-496C-8A3C-E566758E8A04}"/>
                      </a:ext>
                    </a:extLst>
                  </p:cNvPr>
                  <p:cNvSpPr txBox="1"/>
                  <p:nvPr/>
                </p:nvSpPr>
                <p:spPr>
                  <a:xfrm>
                    <a:off x="336006" y="3597456"/>
                    <a:ext cx="236167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Other</a:t>
                    </a:r>
                  </a:p>
                </p:txBody>
              </p:sp>
              <p:sp>
                <p:nvSpPr>
                  <p:cNvPr id="52" name="ZoneTexte 51">
                    <a:extLst>
                      <a:ext uri="{FF2B5EF4-FFF2-40B4-BE49-F238E27FC236}">
                        <a16:creationId xmlns:a16="http://schemas.microsoft.com/office/drawing/2014/main" id="{6A267759-F104-410F-A2C8-39BC459DD88D}"/>
                      </a:ext>
                    </a:extLst>
                  </p:cNvPr>
                  <p:cNvSpPr txBox="1"/>
                  <p:nvPr/>
                </p:nvSpPr>
                <p:spPr>
                  <a:xfrm>
                    <a:off x="336006" y="3917878"/>
                    <a:ext cx="2679403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Large spectrum penicillin</a:t>
                    </a:r>
                  </a:p>
                </p:txBody>
              </p:sp>
              <p:sp>
                <p:nvSpPr>
                  <p:cNvPr id="53" name="ZoneTexte 52">
                    <a:extLst>
                      <a:ext uri="{FF2B5EF4-FFF2-40B4-BE49-F238E27FC236}">
                        <a16:creationId xmlns:a16="http://schemas.microsoft.com/office/drawing/2014/main" id="{B2A9B365-7BF0-4C8A-ACC9-1D623FA8077C}"/>
                      </a:ext>
                    </a:extLst>
                  </p:cNvPr>
                  <p:cNvSpPr txBox="1"/>
                  <p:nvPr/>
                </p:nvSpPr>
                <p:spPr>
                  <a:xfrm>
                    <a:off x="3543585" y="3277035"/>
                    <a:ext cx="3698811" cy="4023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Penicillin + beta-lactamase inhibitor</a:t>
                    </a:r>
                  </a:p>
                </p:txBody>
              </p:sp>
              <p:sp>
                <p:nvSpPr>
                  <p:cNvPr id="54" name="ZoneTexte 53">
                    <a:extLst>
                      <a:ext uri="{FF2B5EF4-FFF2-40B4-BE49-F238E27FC236}">
                        <a16:creationId xmlns:a16="http://schemas.microsoft.com/office/drawing/2014/main" id="{0029A159-43D2-4BCB-86E3-B37AE9CA4B34}"/>
                      </a:ext>
                    </a:extLst>
                  </p:cNvPr>
                  <p:cNvSpPr txBox="1"/>
                  <p:nvPr/>
                </p:nvSpPr>
                <p:spPr>
                  <a:xfrm>
                    <a:off x="3526381" y="3597456"/>
                    <a:ext cx="3390378" cy="4023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Second gen. cephalosporin</a:t>
                    </a:r>
                  </a:p>
                </p:txBody>
              </p:sp>
              <p:sp>
                <p:nvSpPr>
                  <p:cNvPr id="55" name="ZoneTexte 54">
                    <a:extLst>
                      <a:ext uri="{FF2B5EF4-FFF2-40B4-BE49-F238E27FC236}">
                        <a16:creationId xmlns:a16="http://schemas.microsoft.com/office/drawing/2014/main" id="{014BD64E-23A8-4725-A2E5-1D4C5D6A572C}"/>
                      </a:ext>
                    </a:extLst>
                  </p:cNvPr>
                  <p:cNvSpPr txBox="1"/>
                  <p:nvPr/>
                </p:nvSpPr>
                <p:spPr>
                  <a:xfrm>
                    <a:off x="3526381" y="3917878"/>
                    <a:ext cx="3390378" cy="4023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Third gen. cephalosporin</a:t>
                    </a:r>
                  </a:p>
                </p:txBody>
              </p:sp>
              <p:sp>
                <p:nvSpPr>
                  <p:cNvPr id="56" name="ZoneTexte 55">
                    <a:extLst>
                      <a:ext uri="{FF2B5EF4-FFF2-40B4-BE49-F238E27FC236}">
                        <a16:creationId xmlns:a16="http://schemas.microsoft.com/office/drawing/2014/main" id="{3EEA21DB-7915-44A4-A44F-6FA06EC42606}"/>
                      </a:ext>
                    </a:extLst>
                  </p:cNvPr>
                  <p:cNvSpPr txBox="1"/>
                  <p:nvPr/>
                </p:nvSpPr>
                <p:spPr>
                  <a:xfrm>
                    <a:off x="7461396" y="3325515"/>
                    <a:ext cx="314822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 err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Fourth</a:t>
                    </a:r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gen. cephalosporin</a:t>
                    </a:r>
                  </a:p>
                </p:txBody>
              </p:sp>
              <p:sp>
                <p:nvSpPr>
                  <p:cNvPr id="57" name="ZoneTexte 56">
                    <a:extLst>
                      <a:ext uri="{FF2B5EF4-FFF2-40B4-BE49-F238E27FC236}">
                        <a16:creationId xmlns:a16="http://schemas.microsoft.com/office/drawing/2014/main" id="{89F4838D-C24F-47AC-8626-789D492C1DF2}"/>
                      </a:ext>
                    </a:extLst>
                  </p:cNvPr>
                  <p:cNvSpPr txBox="1"/>
                  <p:nvPr/>
                </p:nvSpPr>
                <p:spPr>
                  <a:xfrm>
                    <a:off x="7491011" y="3615926"/>
                    <a:ext cx="236167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Carbapenem</a:t>
                    </a:r>
                  </a:p>
                </p:txBody>
              </p:sp>
              <p:sp>
                <p:nvSpPr>
                  <p:cNvPr id="58" name="ZoneTexte 57">
                    <a:extLst>
                      <a:ext uri="{FF2B5EF4-FFF2-40B4-BE49-F238E27FC236}">
                        <a16:creationId xmlns:a16="http://schemas.microsoft.com/office/drawing/2014/main" id="{0C9C5D11-99CA-4E56-A3CA-64FEE224708F}"/>
                      </a:ext>
                    </a:extLst>
                  </p:cNvPr>
                  <p:cNvSpPr txBox="1"/>
                  <p:nvPr/>
                </p:nvSpPr>
                <p:spPr>
                  <a:xfrm>
                    <a:off x="7491012" y="3936347"/>
                    <a:ext cx="276361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Nitrofuran derivative</a:t>
                    </a:r>
                  </a:p>
                </p:txBody>
              </p:sp>
              <p:sp>
                <p:nvSpPr>
                  <p:cNvPr id="59" name="ZoneTexte 58">
                    <a:extLst>
                      <a:ext uri="{FF2B5EF4-FFF2-40B4-BE49-F238E27FC236}">
                        <a16:creationId xmlns:a16="http://schemas.microsoft.com/office/drawing/2014/main" id="{6849EDBE-3E85-467A-B6D2-161D5C1F5D70}"/>
                      </a:ext>
                    </a:extLst>
                  </p:cNvPr>
                  <p:cNvSpPr txBox="1"/>
                  <p:nvPr/>
                </p:nvSpPr>
                <p:spPr>
                  <a:xfrm>
                    <a:off x="11024091" y="3304047"/>
                    <a:ext cx="236167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Fluoroquinolone</a:t>
                    </a:r>
                  </a:p>
                </p:txBody>
              </p:sp>
              <p:sp>
                <p:nvSpPr>
                  <p:cNvPr id="60" name="ZoneTexte 59">
                    <a:extLst>
                      <a:ext uri="{FF2B5EF4-FFF2-40B4-BE49-F238E27FC236}">
                        <a16:creationId xmlns:a16="http://schemas.microsoft.com/office/drawing/2014/main" id="{ADC20234-7996-4817-8C4D-2AB6CDDC3216}"/>
                      </a:ext>
                    </a:extLst>
                  </p:cNvPr>
                  <p:cNvSpPr txBox="1"/>
                  <p:nvPr/>
                </p:nvSpPr>
                <p:spPr>
                  <a:xfrm>
                    <a:off x="11024091" y="3624468"/>
                    <a:ext cx="236167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Other quinolone</a:t>
                    </a:r>
                  </a:p>
                </p:txBody>
              </p:sp>
              <p:sp>
                <p:nvSpPr>
                  <p:cNvPr id="61" name="ZoneTexte 60">
                    <a:extLst>
                      <a:ext uri="{FF2B5EF4-FFF2-40B4-BE49-F238E27FC236}">
                        <a16:creationId xmlns:a16="http://schemas.microsoft.com/office/drawing/2014/main" id="{44B33ED0-BA8E-4C19-94B1-379FBA15DD92}"/>
                      </a:ext>
                    </a:extLst>
                  </p:cNvPr>
                  <p:cNvSpPr txBox="1"/>
                  <p:nvPr/>
                </p:nvSpPr>
                <p:spPr>
                  <a:xfrm>
                    <a:off x="11024092" y="3944887"/>
                    <a:ext cx="388687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 err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Trimethoprim</a:t>
                    </a:r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/ </a:t>
                    </a:r>
                    <a:r>
                      <a:rPr lang="fr-FR" sz="1556" spc="-49" dirty="0" err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Sulfamethoxazole</a:t>
                    </a:r>
                    <a:endParaRPr lang="fr-FR" sz="1556" spc="-49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0" name="ZoneTexte 29">
                  <a:extLst>
                    <a:ext uri="{FF2B5EF4-FFF2-40B4-BE49-F238E27FC236}">
                      <a16:creationId xmlns:a16="http://schemas.microsoft.com/office/drawing/2014/main" id="{59D8E02B-66FF-4949-84B0-C90273DBDC4E}"/>
                    </a:ext>
                  </a:extLst>
                </p:cNvPr>
                <p:cNvSpPr txBox="1"/>
                <p:nvPr/>
              </p:nvSpPr>
              <p:spPr>
                <a:xfrm>
                  <a:off x="15474159" y="13042236"/>
                  <a:ext cx="2242604" cy="4106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fr-FR" sz="1600" b="1" dirty="0">
                      <a:solidFill>
                        <a:sysClr val="windowText" lastClr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Node Pie chart: </a:t>
                  </a:r>
                </a:p>
              </p:txBody>
            </p:sp>
          </p:grpSp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FB57FCFB-011E-43CA-B391-16B061ECF830}"/>
                  </a:ext>
                </a:extLst>
              </p:cNvPr>
              <p:cNvSpPr txBox="1"/>
              <p:nvPr/>
            </p:nvSpPr>
            <p:spPr>
              <a:xfrm>
                <a:off x="20807128" y="13580619"/>
                <a:ext cx="3886830" cy="410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Node color: antibiotic class</a:t>
                </a:r>
              </a:p>
            </p:txBody>
          </p:sp>
        </p:grpSp>
        <p:grpSp>
          <p:nvGrpSpPr>
            <p:cNvPr id="62" name="Groupe 61">
              <a:extLst>
                <a:ext uri="{FF2B5EF4-FFF2-40B4-BE49-F238E27FC236}">
                  <a16:creationId xmlns:a16="http://schemas.microsoft.com/office/drawing/2014/main" id="{9DB5D5F2-BE93-4B38-8E18-7A338F1530C8}"/>
                </a:ext>
              </a:extLst>
            </p:cNvPr>
            <p:cNvGrpSpPr/>
            <p:nvPr/>
          </p:nvGrpSpPr>
          <p:grpSpPr>
            <a:xfrm>
              <a:off x="-11761" y="9267786"/>
              <a:ext cx="6822809" cy="781737"/>
              <a:chOff x="15364749" y="15235432"/>
              <a:chExt cx="7017943" cy="804095"/>
            </a:xfrm>
          </p:grpSpPr>
          <p:pic>
            <p:nvPicPr>
              <p:cNvPr id="63" name="Image 62">
                <a:extLst>
                  <a:ext uri="{FF2B5EF4-FFF2-40B4-BE49-F238E27FC236}">
                    <a16:creationId xmlns:a16="http://schemas.microsoft.com/office/drawing/2014/main" id="{5816A04D-EB27-47AC-893D-9D5B65FBF4B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698" t="44126" r="17367" b="45674"/>
              <a:stretch/>
            </p:blipFill>
            <p:spPr>
              <a:xfrm>
                <a:off x="15364749" y="15235432"/>
                <a:ext cx="7017943" cy="804095"/>
              </a:xfrm>
              <a:prstGeom prst="rect">
                <a:avLst/>
              </a:prstGeom>
            </p:spPr>
          </p:pic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15C506BC-D21C-4900-B8EA-0C0D852DBC1F}"/>
                  </a:ext>
                </a:extLst>
              </p:cNvPr>
              <p:cNvSpPr txBox="1"/>
              <p:nvPr/>
            </p:nvSpPr>
            <p:spPr>
              <a:xfrm>
                <a:off x="16634207" y="15289166"/>
                <a:ext cx="5258487" cy="41061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fr-FR" sz="1600" b="1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Line color: Association strength (cLift)</a:t>
                </a:r>
              </a:p>
            </p:txBody>
          </p:sp>
        </p:grpSp>
        <p:sp>
          <p:nvSpPr>
            <p:cNvPr id="65" name="ZoneTexte 64">
              <a:extLst>
                <a:ext uri="{FF2B5EF4-FFF2-40B4-BE49-F238E27FC236}">
                  <a16:creationId xmlns:a16="http://schemas.microsoft.com/office/drawing/2014/main" id="{2A7AB20B-39D1-422B-86BE-4CF83D985DAB}"/>
                </a:ext>
              </a:extLst>
            </p:cNvPr>
            <p:cNvSpPr txBox="1"/>
            <p:nvPr/>
          </p:nvSpPr>
          <p:spPr>
            <a:xfrm>
              <a:off x="1159456" y="10127417"/>
              <a:ext cx="5112274" cy="39919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fr-FR" sz="1600" b="1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 width: Association frequency (eSup)</a:t>
              </a:r>
            </a:p>
          </p:txBody>
        </p:sp>
        <p:sp>
          <p:nvSpPr>
            <p:cNvPr id="66" name="ZoneTexte 65">
              <a:extLst>
                <a:ext uri="{FF2B5EF4-FFF2-40B4-BE49-F238E27FC236}">
                  <a16:creationId xmlns:a16="http://schemas.microsoft.com/office/drawing/2014/main" id="{25A5BC36-0C30-4EE0-975C-9556351853D5}"/>
                </a:ext>
              </a:extLst>
            </p:cNvPr>
            <p:cNvSpPr txBox="1"/>
            <p:nvPr/>
          </p:nvSpPr>
          <p:spPr>
            <a:xfrm>
              <a:off x="8034701" y="10146970"/>
              <a:ext cx="5112274" cy="39919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fr-FR" sz="1600" b="1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 width: Association frequency (eSup)</a:t>
              </a:r>
            </a:p>
          </p:txBody>
        </p:sp>
        <p:sp>
          <p:nvSpPr>
            <p:cNvPr id="67" name="ZoneTexte 66">
              <a:extLst>
                <a:ext uri="{FF2B5EF4-FFF2-40B4-BE49-F238E27FC236}">
                  <a16:creationId xmlns:a16="http://schemas.microsoft.com/office/drawing/2014/main" id="{D7D6C8C0-92D4-441B-9748-89700F8117FB}"/>
                </a:ext>
              </a:extLst>
            </p:cNvPr>
            <p:cNvSpPr txBox="1"/>
            <p:nvPr/>
          </p:nvSpPr>
          <p:spPr>
            <a:xfrm>
              <a:off x="8156855" y="9308564"/>
              <a:ext cx="5112274" cy="39919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fr-FR" sz="1600" b="1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 color: Association strength (cLift)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ZoneTexte 2271">
            <a:extLst>
              <a:ext uri="{FF2B5EF4-FFF2-40B4-BE49-F238E27FC236}">
                <a16:creationId xmlns:a16="http://schemas.microsoft.com/office/drawing/2014/main" id="{80159BC2-C0F4-4CCA-AD29-6960052B70B8}"/>
              </a:ext>
            </a:extLst>
          </p:cNvPr>
          <p:cNvSpPr txBox="1"/>
          <p:nvPr/>
        </p:nvSpPr>
        <p:spPr>
          <a:xfrm>
            <a:off x="-15119" y="5064881"/>
            <a:ext cx="77107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 dirty="0">
                <a:latin typeface="Arial"/>
                <a:cs typeface="Arial"/>
              </a:rPr>
              <a:t>Non-ESBL </a:t>
            </a:r>
            <a:r>
              <a:rPr lang="fr-FR" sz="1400" b="1" i="1" dirty="0">
                <a:latin typeface="Arial"/>
                <a:cs typeface="Arial"/>
              </a:rPr>
              <a:t>E. coli</a:t>
            </a:r>
            <a:endParaRPr lang="fr-FR" sz="1400" i="1" dirty="0"/>
          </a:p>
        </p:txBody>
      </p:sp>
      <p:sp>
        <p:nvSpPr>
          <p:cNvPr id="2273" name="ZoneTexte 2272">
            <a:extLst>
              <a:ext uri="{FF2B5EF4-FFF2-40B4-BE49-F238E27FC236}">
                <a16:creationId xmlns:a16="http://schemas.microsoft.com/office/drawing/2014/main" id="{4D5B0682-7D5B-4984-B73D-B7BF3B44BE99}"/>
              </a:ext>
            </a:extLst>
          </p:cNvPr>
          <p:cNvSpPr txBox="1"/>
          <p:nvPr/>
        </p:nvSpPr>
        <p:spPr>
          <a:xfrm>
            <a:off x="-3914" y="1772124"/>
            <a:ext cx="7710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 dirty="0">
                <a:latin typeface="Arial"/>
                <a:cs typeface="Arial"/>
              </a:rPr>
              <a:t>ESBL </a:t>
            </a:r>
            <a:r>
              <a:rPr lang="fr-FR" sz="1400" b="1" i="1" dirty="0">
                <a:latin typeface="Arial"/>
                <a:cs typeface="Arial"/>
              </a:rPr>
              <a:t>E. coli</a:t>
            </a:r>
            <a:endParaRPr lang="fr-FR" sz="1400" i="1" dirty="0"/>
          </a:p>
        </p:txBody>
      </p:sp>
      <p:sp>
        <p:nvSpPr>
          <p:cNvPr id="2274" name="ZoneTexte 2273">
            <a:extLst>
              <a:ext uri="{FF2B5EF4-FFF2-40B4-BE49-F238E27FC236}">
                <a16:creationId xmlns:a16="http://schemas.microsoft.com/office/drawing/2014/main" id="{C466ED8C-D3A6-4DCB-B121-931B3B5348B0}"/>
              </a:ext>
            </a:extLst>
          </p:cNvPr>
          <p:cNvSpPr txBox="1"/>
          <p:nvPr/>
        </p:nvSpPr>
        <p:spPr>
          <a:xfrm>
            <a:off x="1562172" y="806981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2018</a:t>
            </a:r>
          </a:p>
        </p:txBody>
      </p:sp>
      <p:sp>
        <p:nvSpPr>
          <p:cNvPr id="2275" name="ZoneTexte 2274">
            <a:extLst>
              <a:ext uri="{FF2B5EF4-FFF2-40B4-BE49-F238E27FC236}">
                <a16:creationId xmlns:a16="http://schemas.microsoft.com/office/drawing/2014/main" id="{A5B24D3A-5F13-4398-B482-F2CB5FC25B3D}"/>
              </a:ext>
            </a:extLst>
          </p:cNvPr>
          <p:cNvSpPr txBox="1"/>
          <p:nvPr/>
        </p:nvSpPr>
        <p:spPr>
          <a:xfrm>
            <a:off x="3875066" y="806981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2019</a:t>
            </a:r>
          </a:p>
        </p:txBody>
      </p:sp>
      <p:sp>
        <p:nvSpPr>
          <p:cNvPr id="2276" name="ZoneTexte 2275">
            <a:extLst>
              <a:ext uri="{FF2B5EF4-FFF2-40B4-BE49-F238E27FC236}">
                <a16:creationId xmlns:a16="http://schemas.microsoft.com/office/drawing/2014/main" id="{356CFDE3-174D-4DFD-AD6B-4870B81BF63B}"/>
              </a:ext>
            </a:extLst>
          </p:cNvPr>
          <p:cNvSpPr txBox="1"/>
          <p:nvPr/>
        </p:nvSpPr>
        <p:spPr>
          <a:xfrm>
            <a:off x="6187960" y="806980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2020</a:t>
            </a:r>
          </a:p>
        </p:txBody>
      </p:sp>
      <p:sp>
        <p:nvSpPr>
          <p:cNvPr id="2277" name="ZoneTexte 2276">
            <a:extLst>
              <a:ext uri="{FF2B5EF4-FFF2-40B4-BE49-F238E27FC236}">
                <a16:creationId xmlns:a16="http://schemas.microsoft.com/office/drawing/2014/main" id="{8A7B677F-3588-4305-ABC6-B5D8B624BF15}"/>
              </a:ext>
            </a:extLst>
          </p:cNvPr>
          <p:cNvSpPr txBox="1"/>
          <p:nvPr/>
        </p:nvSpPr>
        <p:spPr>
          <a:xfrm>
            <a:off x="8500854" y="806981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2021</a:t>
            </a:r>
          </a:p>
        </p:txBody>
      </p:sp>
      <p:sp>
        <p:nvSpPr>
          <p:cNvPr id="2278" name="ZoneTexte 2277">
            <a:extLst>
              <a:ext uri="{FF2B5EF4-FFF2-40B4-BE49-F238E27FC236}">
                <a16:creationId xmlns:a16="http://schemas.microsoft.com/office/drawing/2014/main" id="{A3755FBE-FCE5-4770-ADB2-A8AE9718B847}"/>
              </a:ext>
            </a:extLst>
          </p:cNvPr>
          <p:cNvSpPr txBox="1"/>
          <p:nvPr/>
        </p:nvSpPr>
        <p:spPr>
          <a:xfrm>
            <a:off x="10813748" y="800570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2022</a:t>
            </a:r>
          </a:p>
        </p:txBody>
      </p:sp>
      <p:sp>
        <p:nvSpPr>
          <p:cNvPr id="2281" name="ZoneTexte 2280">
            <a:extLst>
              <a:ext uri="{FF2B5EF4-FFF2-40B4-BE49-F238E27FC236}">
                <a16:creationId xmlns:a16="http://schemas.microsoft.com/office/drawing/2014/main" id="{DD2B28B0-AA25-47AD-8261-896136FAE9FA}"/>
              </a:ext>
            </a:extLst>
          </p:cNvPr>
          <p:cNvSpPr txBox="1"/>
          <p:nvPr/>
        </p:nvSpPr>
        <p:spPr>
          <a:xfrm>
            <a:off x="-12700" y="3465850"/>
            <a:ext cx="8763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dirty="0">
                <a:latin typeface="Arial"/>
                <a:cs typeface="Arial"/>
              </a:rPr>
              <a:t>Density</a:t>
            </a:r>
            <a:endParaRPr lang="fr-FR" sz="1400" dirty="0"/>
          </a:p>
        </p:txBody>
      </p:sp>
      <p:pic>
        <p:nvPicPr>
          <p:cNvPr id="2283" name="Image 2282">
            <a:extLst>
              <a:ext uri="{FF2B5EF4-FFF2-40B4-BE49-F238E27FC236}">
                <a16:creationId xmlns:a16="http://schemas.microsoft.com/office/drawing/2014/main" id="{F1302604-DB1E-4EA3-85C7-6B69899FED0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3" t="10721" r="7870" b="13188"/>
          <a:stretch/>
        </p:blipFill>
        <p:spPr>
          <a:xfrm>
            <a:off x="875421" y="1220177"/>
            <a:ext cx="2172909" cy="2075628"/>
          </a:xfrm>
          <a:prstGeom prst="rect">
            <a:avLst/>
          </a:prstGeom>
        </p:spPr>
      </p:pic>
      <p:pic>
        <p:nvPicPr>
          <p:cNvPr id="2284" name="Image 2283">
            <a:extLst>
              <a:ext uri="{FF2B5EF4-FFF2-40B4-BE49-F238E27FC236}">
                <a16:creationId xmlns:a16="http://schemas.microsoft.com/office/drawing/2014/main" id="{DCC2907E-5CA0-4324-A5CD-C12987BE1B9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1" t="10381" r="7898" b="13155"/>
          <a:stretch/>
        </p:blipFill>
        <p:spPr>
          <a:xfrm>
            <a:off x="858951" y="4161978"/>
            <a:ext cx="2177515" cy="2126387"/>
          </a:xfrm>
          <a:prstGeom prst="rect">
            <a:avLst/>
          </a:prstGeom>
        </p:spPr>
      </p:pic>
      <p:pic>
        <p:nvPicPr>
          <p:cNvPr id="2285" name="Image 2284">
            <a:extLst>
              <a:ext uri="{FF2B5EF4-FFF2-40B4-BE49-F238E27FC236}">
                <a16:creationId xmlns:a16="http://schemas.microsoft.com/office/drawing/2014/main" id="{90A4B6A7-D505-4A20-ADDA-497FB7217E2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3" t="10721" r="7870" b="13188"/>
          <a:stretch/>
        </p:blipFill>
        <p:spPr>
          <a:xfrm>
            <a:off x="3162673" y="1220177"/>
            <a:ext cx="2172909" cy="2075628"/>
          </a:xfrm>
          <a:prstGeom prst="rect">
            <a:avLst/>
          </a:prstGeom>
        </p:spPr>
      </p:pic>
      <p:pic>
        <p:nvPicPr>
          <p:cNvPr id="2286" name="Image 2285">
            <a:extLst>
              <a:ext uri="{FF2B5EF4-FFF2-40B4-BE49-F238E27FC236}">
                <a16:creationId xmlns:a16="http://schemas.microsoft.com/office/drawing/2014/main" id="{D9924561-DA17-411B-9048-BB8851F29CD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1" t="10381" r="7474" b="13155"/>
          <a:stretch/>
        </p:blipFill>
        <p:spPr>
          <a:xfrm>
            <a:off x="3120949" y="4161978"/>
            <a:ext cx="2189316" cy="2126387"/>
          </a:xfrm>
          <a:prstGeom prst="rect">
            <a:avLst/>
          </a:prstGeom>
        </p:spPr>
      </p:pic>
      <p:pic>
        <p:nvPicPr>
          <p:cNvPr id="2287" name="Image 2286">
            <a:extLst>
              <a:ext uri="{FF2B5EF4-FFF2-40B4-BE49-F238E27FC236}">
                <a16:creationId xmlns:a16="http://schemas.microsoft.com/office/drawing/2014/main" id="{2BFFA536-3B1B-47B8-A062-85544907E98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43" t="10721" r="7006" b="13399"/>
          <a:stretch/>
        </p:blipFill>
        <p:spPr>
          <a:xfrm>
            <a:off x="5449925" y="1223043"/>
            <a:ext cx="2208239" cy="2069896"/>
          </a:xfrm>
          <a:prstGeom prst="rect">
            <a:avLst/>
          </a:prstGeom>
        </p:spPr>
      </p:pic>
      <p:pic>
        <p:nvPicPr>
          <p:cNvPr id="2288" name="Image 2287">
            <a:extLst>
              <a:ext uri="{FF2B5EF4-FFF2-40B4-BE49-F238E27FC236}">
                <a16:creationId xmlns:a16="http://schemas.microsoft.com/office/drawing/2014/main" id="{7DAE70A5-1BF5-4837-8D81-D12C12EA2C35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19" t="10381" r="9129" b="13155"/>
          <a:stretch/>
        </p:blipFill>
        <p:spPr>
          <a:xfrm>
            <a:off x="5394747" y="4161978"/>
            <a:ext cx="2209488" cy="2126387"/>
          </a:xfrm>
          <a:prstGeom prst="rect">
            <a:avLst/>
          </a:prstGeom>
        </p:spPr>
      </p:pic>
      <p:pic>
        <p:nvPicPr>
          <p:cNvPr id="2289" name="Image 2288">
            <a:extLst>
              <a:ext uri="{FF2B5EF4-FFF2-40B4-BE49-F238E27FC236}">
                <a16:creationId xmlns:a16="http://schemas.microsoft.com/office/drawing/2014/main" id="{7B23469B-670B-42FC-AEC8-15F8EA3BA05A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43" t="10721" r="7006" b="13399"/>
          <a:stretch/>
        </p:blipFill>
        <p:spPr>
          <a:xfrm>
            <a:off x="7772507" y="1223043"/>
            <a:ext cx="2208239" cy="2069896"/>
          </a:xfrm>
          <a:prstGeom prst="rect">
            <a:avLst/>
          </a:prstGeom>
        </p:spPr>
      </p:pic>
      <p:pic>
        <p:nvPicPr>
          <p:cNvPr id="2290" name="Image 2289">
            <a:extLst>
              <a:ext uri="{FF2B5EF4-FFF2-40B4-BE49-F238E27FC236}">
                <a16:creationId xmlns:a16="http://schemas.microsoft.com/office/drawing/2014/main" id="{61C7737B-5B0D-4A9E-B08B-0AFD6C6B49FC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1" t="10381" r="8993" b="13155"/>
          <a:stretch/>
        </p:blipFill>
        <p:spPr>
          <a:xfrm>
            <a:off x="7688718" y="4161978"/>
            <a:ext cx="2147074" cy="2126387"/>
          </a:xfrm>
          <a:prstGeom prst="rect">
            <a:avLst/>
          </a:prstGeom>
        </p:spPr>
      </p:pic>
      <p:pic>
        <p:nvPicPr>
          <p:cNvPr id="2291" name="Image 2290">
            <a:extLst>
              <a:ext uri="{FF2B5EF4-FFF2-40B4-BE49-F238E27FC236}">
                <a16:creationId xmlns:a16="http://schemas.microsoft.com/office/drawing/2014/main" id="{53EEA248-21B2-41A5-B276-AA0E8E1A2D5D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5" t="10721" r="9835" b="13399"/>
          <a:stretch/>
        </p:blipFill>
        <p:spPr>
          <a:xfrm>
            <a:off x="10095088" y="1223043"/>
            <a:ext cx="2096912" cy="2069896"/>
          </a:xfrm>
          <a:prstGeom prst="rect">
            <a:avLst/>
          </a:prstGeom>
        </p:spPr>
      </p:pic>
      <p:pic>
        <p:nvPicPr>
          <p:cNvPr id="2292" name="Image 2291">
            <a:extLst>
              <a:ext uri="{FF2B5EF4-FFF2-40B4-BE49-F238E27FC236}">
                <a16:creationId xmlns:a16="http://schemas.microsoft.com/office/drawing/2014/main" id="{09D900BA-1AD0-4D51-9862-03CB7DF837AA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20" t="10382" r="6891" b="13156"/>
          <a:stretch/>
        </p:blipFill>
        <p:spPr>
          <a:xfrm>
            <a:off x="9920274" y="4161978"/>
            <a:ext cx="2271726" cy="2126387"/>
          </a:xfrm>
          <a:prstGeom prst="rect">
            <a:avLst/>
          </a:pr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A4BFAB79-DCFA-46DA-9E2F-812571AF4DC3}"/>
              </a:ext>
            </a:extLst>
          </p:cNvPr>
          <p:cNvGrpSpPr/>
          <p:nvPr/>
        </p:nvGrpSpPr>
        <p:grpSpPr>
          <a:xfrm>
            <a:off x="-11761" y="7029150"/>
            <a:ext cx="13080507" cy="3267895"/>
            <a:chOff x="-11761" y="7029150"/>
            <a:chExt cx="14496366" cy="3853226"/>
          </a:xfrm>
        </p:grpSpPr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C7E03C22-9B5D-4E52-9105-A91C324EA5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98" t="44126" r="17367" b="45674"/>
            <a:stretch/>
          </p:blipFill>
          <p:spPr>
            <a:xfrm>
              <a:off x="7110605" y="9267786"/>
              <a:ext cx="6822810" cy="781737"/>
            </a:xfrm>
            <a:prstGeom prst="rect">
              <a:avLst/>
            </a:prstGeom>
          </p:spPr>
        </p:pic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B1F55FBE-70F7-48C4-9694-B70938360A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98" t="44126" r="17368" b="45674"/>
            <a:stretch/>
          </p:blipFill>
          <p:spPr>
            <a:xfrm>
              <a:off x="-11761" y="10100639"/>
              <a:ext cx="6822809" cy="781737"/>
            </a:xfrm>
            <a:prstGeom prst="rect">
              <a:avLst/>
            </a:prstGeom>
          </p:spPr>
        </p:pic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791037B1-A7F4-42E7-AE7B-17AD444566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98" t="44126" r="17367" b="45674"/>
            <a:stretch/>
          </p:blipFill>
          <p:spPr>
            <a:xfrm>
              <a:off x="7110607" y="10100639"/>
              <a:ext cx="6822809" cy="781737"/>
            </a:xfrm>
            <a:prstGeom prst="rect">
              <a:avLst/>
            </a:prstGeom>
          </p:spPr>
        </p:pic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7B9B19AC-AFC1-4B5E-B8BE-6E521E2A1DF6}"/>
                </a:ext>
              </a:extLst>
            </p:cNvPr>
            <p:cNvGrpSpPr/>
            <p:nvPr/>
          </p:nvGrpSpPr>
          <p:grpSpPr>
            <a:xfrm>
              <a:off x="-11761" y="7029150"/>
              <a:ext cx="14496366" cy="2115159"/>
              <a:chOff x="15364749" y="12932770"/>
              <a:chExt cx="14910965" cy="2175653"/>
            </a:xfrm>
          </p:grpSpPr>
          <p:grpSp>
            <p:nvGrpSpPr>
              <p:cNvPr id="27" name="Groupe 26">
                <a:extLst>
                  <a:ext uri="{FF2B5EF4-FFF2-40B4-BE49-F238E27FC236}">
                    <a16:creationId xmlns:a16="http://schemas.microsoft.com/office/drawing/2014/main" id="{AB4AA599-4F1D-4158-B1C8-854AFB7E5061}"/>
                  </a:ext>
                </a:extLst>
              </p:cNvPr>
              <p:cNvGrpSpPr/>
              <p:nvPr/>
            </p:nvGrpSpPr>
            <p:grpSpPr>
              <a:xfrm>
                <a:off x="15364749" y="12932770"/>
                <a:ext cx="14910965" cy="2175653"/>
                <a:chOff x="15364749" y="12932770"/>
                <a:chExt cx="14910965" cy="2175653"/>
              </a:xfrm>
            </p:grpSpPr>
            <p:grpSp>
              <p:nvGrpSpPr>
                <p:cNvPr id="29" name="Groupe 28">
                  <a:extLst>
                    <a:ext uri="{FF2B5EF4-FFF2-40B4-BE49-F238E27FC236}">
                      <a16:creationId xmlns:a16="http://schemas.microsoft.com/office/drawing/2014/main" id="{4A3A7994-A374-4E74-AB8D-C4817C528119}"/>
                    </a:ext>
                  </a:extLst>
                </p:cNvPr>
                <p:cNvGrpSpPr/>
                <p:nvPr/>
              </p:nvGrpSpPr>
              <p:grpSpPr>
                <a:xfrm>
                  <a:off x="15364749" y="12932770"/>
                  <a:ext cx="14910965" cy="2175653"/>
                  <a:chOff x="-1" y="2208356"/>
                  <a:chExt cx="14910965" cy="2175653"/>
                </a:xfrm>
              </p:grpSpPr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DB30B550-AF2F-4D4F-8B9A-7131115A8E81}"/>
                      </a:ext>
                    </a:extLst>
                  </p:cNvPr>
                  <p:cNvSpPr/>
                  <p:nvPr/>
                </p:nvSpPr>
                <p:spPr>
                  <a:xfrm>
                    <a:off x="-1" y="2208356"/>
                    <a:ext cx="14344010" cy="2175653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/>
                  <a:p>
                    <a:endParaRPr lang="fr-FR" sz="389" dirty="0">
                      <a:solidFill>
                        <a:sysClr val="windowText" lastClr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CA321B79-7293-4C1D-B621-FC1B2740C90E}"/>
                      </a:ext>
                    </a:extLst>
                  </p:cNvPr>
                  <p:cNvSpPr/>
                  <p:nvPr/>
                </p:nvSpPr>
                <p:spPr>
                  <a:xfrm>
                    <a:off x="2431818" y="2365729"/>
                    <a:ext cx="534525" cy="317902"/>
                  </a:xfrm>
                  <a:prstGeom prst="rect">
                    <a:avLst/>
                  </a:prstGeom>
                  <a:solidFill>
                    <a:srgbClr val="DCDCDC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3" name="ZoneTexte 32">
                    <a:extLst>
                      <a:ext uri="{FF2B5EF4-FFF2-40B4-BE49-F238E27FC236}">
                        <a16:creationId xmlns:a16="http://schemas.microsoft.com/office/drawing/2014/main" id="{41FF9411-787A-4D84-8E90-8D6E04FE72EB}"/>
                      </a:ext>
                    </a:extLst>
                  </p:cNvPr>
                  <p:cNvSpPr txBox="1"/>
                  <p:nvPr/>
                </p:nvSpPr>
                <p:spPr>
                  <a:xfrm>
                    <a:off x="2966343" y="2347439"/>
                    <a:ext cx="1978959" cy="41061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6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% Not tested</a:t>
                    </a:r>
                  </a:p>
                </p:txBody>
              </p:sp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50E52BB0-313F-465C-9BF5-46010AAB3B24}"/>
                      </a:ext>
                    </a:extLst>
                  </p:cNvPr>
                  <p:cNvSpPr/>
                  <p:nvPr/>
                </p:nvSpPr>
                <p:spPr>
                  <a:xfrm>
                    <a:off x="6709544" y="2347439"/>
                    <a:ext cx="534525" cy="31790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" name="ZoneTexte 34">
                    <a:extLst>
                      <a:ext uri="{FF2B5EF4-FFF2-40B4-BE49-F238E27FC236}">
                        <a16:creationId xmlns:a16="http://schemas.microsoft.com/office/drawing/2014/main" id="{2F5D3678-58A4-422C-8A35-F2F2955D860E}"/>
                      </a:ext>
                    </a:extLst>
                  </p:cNvPr>
                  <p:cNvSpPr txBox="1"/>
                  <p:nvPr/>
                </p:nvSpPr>
                <p:spPr>
                  <a:xfrm>
                    <a:off x="7242395" y="2312982"/>
                    <a:ext cx="1978959" cy="41061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6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% Susceptible</a:t>
                    </a:r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56E1D182-CAE2-467D-82F2-1B3109A12135}"/>
                      </a:ext>
                    </a:extLst>
                  </p:cNvPr>
                  <p:cNvSpPr/>
                  <p:nvPr/>
                </p:nvSpPr>
                <p:spPr>
                  <a:xfrm>
                    <a:off x="10992549" y="2364412"/>
                    <a:ext cx="534525" cy="317902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23C997"/>
                      </a:gs>
                      <a:gs pos="7000">
                        <a:srgbClr val="DCB702"/>
                      </a:gs>
                      <a:gs pos="82000">
                        <a:srgbClr val="FF7F40"/>
                      </a:gs>
                      <a:gs pos="27000">
                        <a:srgbClr val="3E7CA5"/>
                      </a:gs>
                      <a:gs pos="16000">
                        <a:srgbClr val="7EC8E3"/>
                      </a:gs>
                      <a:gs pos="70000">
                        <a:srgbClr val="EE637F"/>
                      </a:gs>
                      <a:gs pos="59000">
                        <a:srgbClr val="62C966"/>
                      </a:gs>
                      <a:gs pos="47000">
                        <a:srgbClr val="B155A7"/>
                      </a:gs>
                      <a:gs pos="38000">
                        <a:srgbClr val="D38ACB"/>
                      </a:gs>
                      <a:gs pos="93000">
                        <a:srgbClr val="BCED54"/>
                      </a:gs>
                    </a:gsLst>
                    <a:lin ang="0" scaled="1"/>
                    <a:tileRect/>
                  </a:gra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972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7" name="ZoneTexte 36">
                    <a:extLst>
                      <a:ext uri="{FF2B5EF4-FFF2-40B4-BE49-F238E27FC236}">
                        <a16:creationId xmlns:a16="http://schemas.microsoft.com/office/drawing/2014/main" id="{8833109E-C617-41CD-963A-57E049FE18B2}"/>
                      </a:ext>
                    </a:extLst>
                  </p:cNvPr>
                  <p:cNvSpPr txBox="1"/>
                  <p:nvPr/>
                </p:nvSpPr>
                <p:spPr>
                  <a:xfrm>
                    <a:off x="11527074" y="2338697"/>
                    <a:ext cx="1978959" cy="41061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6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% Resistant</a:t>
                    </a:r>
                  </a:p>
                </p:txBody>
              </p:sp>
              <p:sp>
                <p:nvSpPr>
                  <p:cNvPr id="38" name="Ellipse 37">
                    <a:extLst>
                      <a:ext uri="{FF2B5EF4-FFF2-40B4-BE49-F238E27FC236}">
                        <a16:creationId xmlns:a16="http://schemas.microsoft.com/office/drawing/2014/main" id="{644C6C82-A9B6-49CC-97ED-9DFDE9B9CD48}"/>
                      </a:ext>
                    </a:extLst>
                  </p:cNvPr>
                  <p:cNvSpPr/>
                  <p:nvPr/>
                </p:nvSpPr>
                <p:spPr>
                  <a:xfrm>
                    <a:off x="78519" y="3361858"/>
                    <a:ext cx="210820" cy="210821"/>
                  </a:xfrm>
                  <a:prstGeom prst="ellipse">
                    <a:avLst/>
                  </a:prstGeom>
                  <a:solidFill>
                    <a:srgbClr val="23C99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" name="Ellipse 38">
                    <a:extLst>
                      <a:ext uri="{FF2B5EF4-FFF2-40B4-BE49-F238E27FC236}">
                        <a16:creationId xmlns:a16="http://schemas.microsoft.com/office/drawing/2014/main" id="{1B42492B-9548-4F46-B983-9515BC62A61E}"/>
                      </a:ext>
                    </a:extLst>
                  </p:cNvPr>
                  <p:cNvSpPr/>
                  <p:nvPr/>
                </p:nvSpPr>
                <p:spPr>
                  <a:xfrm>
                    <a:off x="3332763" y="3351544"/>
                    <a:ext cx="210820" cy="210820"/>
                  </a:xfrm>
                  <a:prstGeom prst="ellipse">
                    <a:avLst/>
                  </a:prstGeom>
                  <a:solidFill>
                    <a:srgbClr val="3E7CA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0" name="Ellipse 39">
                    <a:extLst>
                      <a:ext uri="{FF2B5EF4-FFF2-40B4-BE49-F238E27FC236}">
                        <a16:creationId xmlns:a16="http://schemas.microsoft.com/office/drawing/2014/main" id="{C534A962-4A5A-48BB-8214-DA5B020BDE3D}"/>
                      </a:ext>
                    </a:extLst>
                  </p:cNvPr>
                  <p:cNvSpPr/>
                  <p:nvPr/>
                </p:nvSpPr>
                <p:spPr>
                  <a:xfrm>
                    <a:off x="7203237" y="3361858"/>
                    <a:ext cx="210820" cy="210821"/>
                  </a:xfrm>
                  <a:prstGeom prst="ellipse">
                    <a:avLst/>
                  </a:prstGeom>
                  <a:solidFill>
                    <a:srgbClr val="B155A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1" name="Ellipse 40">
                    <a:extLst>
                      <a:ext uri="{FF2B5EF4-FFF2-40B4-BE49-F238E27FC236}">
                        <a16:creationId xmlns:a16="http://schemas.microsoft.com/office/drawing/2014/main" id="{3C785ED4-332F-4647-AE76-A407F5AEBD77}"/>
                      </a:ext>
                    </a:extLst>
                  </p:cNvPr>
                  <p:cNvSpPr/>
                  <p:nvPr/>
                </p:nvSpPr>
                <p:spPr>
                  <a:xfrm>
                    <a:off x="10765595" y="3361858"/>
                    <a:ext cx="210820" cy="210821"/>
                  </a:xfrm>
                  <a:prstGeom prst="ellipse">
                    <a:avLst/>
                  </a:prstGeom>
                  <a:solidFill>
                    <a:srgbClr val="FDAC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2" name="Ellipse 41">
                    <a:extLst>
                      <a:ext uri="{FF2B5EF4-FFF2-40B4-BE49-F238E27FC236}">
                        <a16:creationId xmlns:a16="http://schemas.microsoft.com/office/drawing/2014/main" id="{A3E2D571-D500-408A-8026-174FDB99A2D6}"/>
                      </a:ext>
                    </a:extLst>
                  </p:cNvPr>
                  <p:cNvSpPr/>
                  <p:nvPr/>
                </p:nvSpPr>
                <p:spPr>
                  <a:xfrm>
                    <a:off x="78519" y="3668355"/>
                    <a:ext cx="210820" cy="210821"/>
                  </a:xfrm>
                  <a:prstGeom prst="ellipse">
                    <a:avLst/>
                  </a:prstGeom>
                  <a:solidFill>
                    <a:srgbClr val="DCB70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3" name="Ellipse 42">
                    <a:extLst>
                      <a:ext uri="{FF2B5EF4-FFF2-40B4-BE49-F238E27FC236}">
                        <a16:creationId xmlns:a16="http://schemas.microsoft.com/office/drawing/2014/main" id="{654F718F-8AA6-4A32-8F47-ED0F732C1D4A}"/>
                      </a:ext>
                    </a:extLst>
                  </p:cNvPr>
                  <p:cNvSpPr/>
                  <p:nvPr/>
                </p:nvSpPr>
                <p:spPr>
                  <a:xfrm>
                    <a:off x="3332763" y="3658041"/>
                    <a:ext cx="210820" cy="210820"/>
                  </a:xfrm>
                  <a:prstGeom prst="ellipse">
                    <a:avLst/>
                  </a:prstGeom>
                  <a:solidFill>
                    <a:srgbClr val="F2B6EB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4" name="Ellipse 43">
                    <a:extLst>
                      <a:ext uri="{FF2B5EF4-FFF2-40B4-BE49-F238E27FC236}">
                        <a16:creationId xmlns:a16="http://schemas.microsoft.com/office/drawing/2014/main" id="{83C2E6CD-3F02-4E7D-B017-06BEF60FA54E}"/>
                      </a:ext>
                    </a:extLst>
                  </p:cNvPr>
                  <p:cNvSpPr/>
                  <p:nvPr/>
                </p:nvSpPr>
                <p:spPr>
                  <a:xfrm>
                    <a:off x="7203237" y="3668355"/>
                    <a:ext cx="210820" cy="210821"/>
                  </a:xfrm>
                  <a:prstGeom prst="ellipse">
                    <a:avLst/>
                  </a:prstGeom>
                  <a:solidFill>
                    <a:srgbClr val="62C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5" name="Ellipse 44">
                    <a:extLst>
                      <a:ext uri="{FF2B5EF4-FFF2-40B4-BE49-F238E27FC236}">
                        <a16:creationId xmlns:a16="http://schemas.microsoft.com/office/drawing/2014/main" id="{EF17DADB-B849-4B26-9E14-C29BC10C31C8}"/>
                      </a:ext>
                    </a:extLst>
                  </p:cNvPr>
                  <p:cNvSpPr/>
                  <p:nvPr/>
                </p:nvSpPr>
                <p:spPr>
                  <a:xfrm>
                    <a:off x="10765595" y="3668355"/>
                    <a:ext cx="210820" cy="210821"/>
                  </a:xfrm>
                  <a:prstGeom prst="ellipse">
                    <a:avLst/>
                  </a:prstGeom>
                  <a:solidFill>
                    <a:srgbClr val="FF7F4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6" name="Ellipse 45">
                    <a:extLst>
                      <a:ext uri="{FF2B5EF4-FFF2-40B4-BE49-F238E27FC236}">
                        <a16:creationId xmlns:a16="http://schemas.microsoft.com/office/drawing/2014/main" id="{F08DFCD7-F8B5-4689-BF10-B2B6B382C2B8}"/>
                      </a:ext>
                    </a:extLst>
                  </p:cNvPr>
                  <p:cNvSpPr/>
                  <p:nvPr/>
                </p:nvSpPr>
                <p:spPr>
                  <a:xfrm>
                    <a:off x="78519" y="3966357"/>
                    <a:ext cx="210820" cy="210821"/>
                  </a:xfrm>
                  <a:prstGeom prst="ellipse">
                    <a:avLst/>
                  </a:prstGeom>
                  <a:solidFill>
                    <a:srgbClr val="7EC8E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7" name="Ellipse 46">
                    <a:extLst>
                      <a:ext uri="{FF2B5EF4-FFF2-40B4-BE49-F238E27FC236}">
                        <a16:creationId xmlns:a16="http://schemas.microsoft.com/office/drawing/2014/main" id="{AF9068CC-8FB6-45F6-8998-F0D8BC4A4ADA}"/>
                      </a:ext>
                    </a:extLst>
                  </p:cNvPr>
                  <p:cNvSpPr/>
                  <p:nvPr/>
                </p:nvSpPr>
                <p:spPr>
                  <a:xfrm>
                    <a:off x="3332763" y="3956043"/>
                    <a:ext cx="210820" cy="210820"/>
                  </a:xfrm>
                  <a:prstGeom prst="ellipse">
                    <a:avLst/>
                  </a:prstGeom>
                  <a:solidFill>
                    <a:srgbClr val="D38ACB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8" name="Ellipse 47">
                    <a:extLst>
                      <a:ext uri="{FF2B5EF4-FFF2-40B4-BE49-F238E27FC236}">
                        <a16:creationId xmlns:a16="http://schemas.microsoft.com/office/drawing/2014/main" id="{F5DBDD97-F57E-4C03-B5AE-16C716C8EDF8}"/>
                      </a:ext>
                    </a:extLst>
                  </p:cNvPr>
                  <p:cNvSpPr/>
                  <p:nvPr/>
                </p:nvSpPr>
                <p:spPr>
                  <a:xfrm>
                    <a:off x="7203237" y="3966357"/>
                    <a:ext cx="210820" cy="210821"/>
                  </a:xfrm>
                  <a:prstGeom prst="ellipse">
                    <a:avLst/>
                  </a:prstGeom>
                  <a:solidFill>
                    <a:srgbClr val="EE637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9" name="Ellipse 48">
                    <a:extLst>
                      <a:ext uri="{FF2B5EF4-FFF2-40B4-BE49-F238E27FC236}">
                        <a16:creationId xmlns:a16="http://schemas.microsoft.com/office/drawing/2014/main" id="{FB427A11-76F0-4C62-A283-EAF0E82E261C}"/>
                      </a:ext>
                    </a:extLst>
                  </p:cNvPr>
                  <p:cNvSpPr/>
                  <p:nvPr/>
                </p:nvSpPr>
                <p:spPr>
                  <a:xfrm>
                    <a:off x="10765595" y="3966357"/>
                    <a:ext cx="210820" cy="210821"/>
                  </a:xfrm>
                  <a:prstGeom prst="ellipse">
                    <a:avLst/>
                  </a:prstGeom>
                  <a:solidFill>
                    <a:srgbClr val="BCED5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0" name="ZoneTexte 49">
                    <a:extLst>
                      <a:ext uri="{FF2B5EF4-FFF2-40B4-BE49-F238E27FC236}">
                        <a16:creationId xmlns:a16="http://schemas.microsoft.com/office/drawing/2014/main" id="{7DDD9FFA-5212-4D68-8671-603283CACB22}"/>
                      </a:ext>
                    </a:extLst>
                  </p:cNvPr>
                  <p:cNvSpPr txBox="1"/>
                  <p:nvPr/>
                </p:nvSpPr>
                <p:spPr>
                  <a:xfrm>
                    <a:off x="336006" y="3277035"/>
                    <a:ext cx="236167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Aminoglycoside</a:t>
                    </a:r>
                  </a:p>
                </p:txBody>
              </p:sp>
              <p:sp>
                <p:nvSpPr>
                  <p:cNvPr id="51" name="ZoneTexte 50">
                    <a:extLst>
                      <a:ext uri="{FF2B5EF4-FFF2-40B4-BE49-F238E27FC236}">
                        <a16:creationId xmlns:a16="http://schemas.microsoft.com/office/drawing/2014/main" id="{4FE7616A-DCAE-496C-8A3C-E566758E8A04}"/>
                      </a:ext>
                    </a:extLst>
                  </p:cNvPr>
                  <p:cNvSpPr txBox="1"/>
                  <p:nvPr/>
                </p:nvSpPr>
                <p:spPr>
                  <a:xfrm>
                    <a:off x="336006" y="3597456"/>
                    <a:ext cx="236167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Other</a:t>
                    </a:r>
                  </a:p>
                </p:txBody>
              </p:sp>
              <p:sp>
                <p:nvSpPr>
                  <p:cNvPr id="52" name="ZoneTexte 51">
                    <a:extLst>
                      <a:ext uri="{FF2B5EF4-FFF2-40B4-BE49-F238E27FC236}">
                        <a16:creationId xmlns:a16="http://schemas.microsoft.com/office/drawing/2014/main" id="{6A267759-F104-410F-A2C8-39BC459DD88D}"/>
                      </a:ext>
                    </a:extLst>
                  </p:cNvPr>
                  <p:cNvSpPr txBox="1"/>
                  <p:nvPr/>
                </p:nvSpPr>
                <p:spPr>
                  <a:xfrm>
                    <a:off x="336006" y="3917878"/>
                    <a:ext cx="2679403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Large spectrum penicillin</a:t>
                    </a:r>
                  </a:p>
                </p:txBody>
              </p:sp>
              <p:sp>
                <p:nvSpPr>
                  <p:cNvPr id="53" name="ZoneTexte 52">
                    <a:extLst>
                      <a:ext uri="{FF2B5EF4-FFF2-40B4-BE49-F238E27FC236}">
                        <a16:creationId xmlns:a16="http://schemas.microsoft.com/office/drawing/2014/main" id="{B2A9B365-7BF0-4C8A-ACC9-1D623FA8077C}"/>
                      </a:ext>
                    </a:extLst>
                  </p:cNvPr>
                  <p:cNvSpPr txBox="1"/>
                  <p:nvPr/>
                </p:nvSpPr>
                <p:spPr>
                  <a:xfrm>
                    <a:off x="3543585" y="3277035"/>
                    <a:ext cx="3698811" cy="4023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Penicillin + beta-lactamase inhibitor</a:t>
                    </a:r>
                  </a:p>
                </p:txBody>
              </p:sp>
              <p:sp>
                <p:nvSpPr>
                  <p:cNvPr id="54" name="ZoneTexte 53">
                    <a:extLst>
                      <a:ext uri="{FF2B5EF4-FFF2-40B4-BE49-F238E27FC236}">
                        <a16:creationId xmlns:a16="http://schemas.microsoft.com/office/drawing/2014/main" id="{0029A159-43D2-4BCB-86E3-B37AE9CA4B34}"/>
                      </a:ext>
                    </a:extLst>
                  </p:cNvPr>
                  <p:cNvSpPr txBox="1"/>
                  <p:nvPr/>
                </p:nvSpPr>
                <p:spPr>
                  <a:xfrm>
                    <a:off x="3526381" y="3597456"/>
                    <a:ext cx="3390378" cy="4023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Second gen. cephalosporin</a:t>
                    </a:r>
                  </a:p>
                </p:txBody>
              </p:sp>
              <p:sp>
                <p:nvSpPr>
                  <p:cNvPr id="55" name="ZoneTexte 54">
                    <a:extLst>
                      <a:ext uri="{FF2B5EF4-FFF2-40B4-BE49-F238E27FC236}">
                        <a16:creationId xmlns:a16="http://schemas.microsoft.com/office/drawing/2014/main" id="{014BD64E-23A8-4725-A2E5-1D4C5D6A572C}"/>
                      </a:ext>
                    </a:extLst>
                  </p:cNvPr>
                  <p:cNvSpPr txBox="1"/>
                  <p:nvPr/>
                </p:nvSpPr>
                <p:spPr>
                  <a:xfrm>
                    <a:off x="3526381" y="3917878"/>
                    <a:ext cx="3390378" cy="4023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Third gen. cephalosporin</a:t>
                    </a:r>
                  </a:p>
                </p:txBody>
              </p:sp>
              <p:sp>
                <p:nvSpPr>
                  <p:cNvPr id="56" name="ZoneTexte 55">
                    <a:extLst>
                      <a:ext uri="{FF2B5EF4-FFF2-40B4-BE49-F238E27FC236}">
                        <a16:creationId xmlns:a16="http://schemas.microsoft.com/office/drawing/2014/main" id="{3EEA21DB-7915-44A4-A44F-6FA06EC42606}"/>
                      </a:ext>
                    </a:extLst>
                  </p:cNvPr>
                  <p:cNvSpPr txBox="1"/>
                  <p:nvPr/>
                </p:nvSpPr>
                <p:spPr>
                  <a:xfrm>
                    <a:off x="7461396" y="3325515"/>
                    <a:ext cx="314822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 err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Fourth</a:t>
                    </a:r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gen. cephalosporin</a:t>
                    </a:r>
                  </a:p>
                </p:txBody>
              </p:sp>
              <p:sp>
                <p:nvSpPr>
                  <p:cNvPr id="57" name="ZoneTexte 56">
                    <a:extLst>
                      <a:ext uri="{FF2B5EF4-FFF2-40B4-BE49-F238E27FC236}">
                        <a16:creationId xmlns:a16="http://schemas.microsoft.com/office/drawing/2014/main" id="{89F4838D-C24F-47AC-8626-789D492C1DF2}"/>
                      </a:ext>
                    </a:extLst>
                  </p:cNvPr>
                  <p:cNvSpPr txBox="1"/>
                  <p:nvPr/>
                </p:nvSpPr>
                <p:spPr>
                  <a:xfrm>
                    <a:off x="7491011" y="3615926"/>
                    <a:ext cx="236167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Carbapenem</a:t>
                    </a:r>
                  </a:p>
                </p:txBody>
              </p:sp>
              <p:sp>
                <p:nvSpPr>
                  <p:cNvPr id="58" name="ZoneTexte 57">
                    <a:extLst>
                      <a:ext uri="{FF2B5EF4-FFF2-40B4-BE49-F238E27FC236}">
                        <a16:creationId xmlns:a16="http://schemas.microsoft.com/office/drawing/2014/main" id="{0C9C5D11-99CA-4E56-A3CA-64FEE224708F}"/>
                      </a:ext>
                    </a:extLst>
                  </p:cNvPr>
                  <p:cNvSpPr txBox="1"/>
                  <p:nvPr/>
                </p:nvSpPr>
                <p:spPr>
                  <a:xfrm>
                    <a:off x="7491012" y="3936347"/>
                    <a:ext cx="276361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Nitrofuran derivative</a:t>
                    </a:r>
                  </a:p>
                </p:txBody>
              </p:sp>
              <p:sp>
                <p:nvSpPr>
                  <p:cNvPr id="59" name="ZoneTexte 58">
                    <a:extLst>
                      <a:ext uri="{FF2B5EF4-FFF2-40B4-BE49-F238E27FC236}">
                        <a16:creationId xmlns:a16="http://schemas.microsoft.com/office/drawing/2014/main" id="{6849EDBE-3E85-467A-B6D2-161D5C1F5D70}"/>
                      </a:ext>
                    </a:extLst>
                  </p:cNvPr>
                  <p:cNvSpPr txBox="1"/>
                  <p:nvPr/>
                </p:nvSpPr>
                <p:spPr>
                  <a:xfrm>
                    <a:off x="11024091" y="3304047"/>
                    <a:ext cx="236167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Fluoroquinolone</a:t>
                    </a:r>
                  </a:p>
                </p:txBody>
              </p:sp>
              <p:sp>
                <p:nvSpPr>
                  <p:cNvPr id="60" name="ZoneTexte 59">
                    <a:extLst>
                      <a:ext uri="{FF2B5EF4-FFF2-40B4-BE49-F238E27FC236}">
                        <a16:creationId xmlns:a16="http://schemas.microsoft.com/office/drawing/2014/main" id="{ADC20234-7996-4817-8C4D-2AB6CDDC3216}"/>
                      </a:ext>
                    </a:extLst>
                  </p:cNvPr>
                  <p:cNvSpPr txBox="1"/>
                  <p:nvPr/>
                </p:nvSpPr>
                <p:spPr>
                  <a:xfrm>
                    <a:off x="11024091" y="3624468"/>
                    <a:ext cx="236167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Other quinolone</a:t>
                    </a:r>
                  </a:p>
                </p:txBody>
              </p:sp>
              <p:sp>
                <p:nvSpPr>
                  <p:cNvPr id="61" name="ZoneTexte 60">
                    <a:extLst>
                      <a:ext uri="{FF2B5EF4-FFF2-40B4-BE49-F238E27FC236}">
                        <a16:creationId xmlns:a16="http://schemas.microsoft.com/office/drawing/2014/main" id="{44B33ED0-BA8E-4C19-94B1-379FBA15DD92}"/>
                      </a:ext>
                    </a:extLst>
                  </p:cNvPr>
                  <p:cNvSpPr txBox="1"/>
                  <p:nvPr/>
                </p:nvSpPr>
                <p:spPr>
                  <a:xfrm>
                    <a:off x="11024092" y="3944887"/>
                    <a:ext cx="388687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 err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Trimethoprim</a:t>
                    </a:r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/ </a:t>
                    </a:r>
                    <a:r>
                      <a:rPr lang="fr-FR" sz="1556" spc="-49" dirty="0" err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Sulfamethoxazole</a:t>
                    </a:r>
                    <a:endParaRPr lang="fr-FR" sz="1556" spc="-49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0" name="ZoneTexte 29">
                  <a:extLst>
                    <a:ext uri="{FF2B5EF4-FFF2-40B4-BE49-F238E27FC236}">
                      <a16:creationId xmlns:a16="http://schemas.microsoft.com/office/drawing/2014/main" id="{59D8E02B-66FF-4949-84B0-C90273DBDC4E}"/>
                    </a:ext>
                  </a:extLst>
                </p:cNvPr>
                <p:cNvSpPr txBox="1"/>
                <p:nvPr/>
              </p:nvSpPr>
              <p:spPr>
                <a:xfrm>
                  <a:off x="15474159" y="13042236"/>
                  <a:ext cx="2242604" cy="4106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fr-FR" sz="1600" b="1" dirty="0">
                      <a:solidFill>
                        <a:sysClr val="windowText" lastClr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Node Pie chart: </a:t>
                  </a:r>
                </a:p>
              </p:txBody>
            </p:sp>
          </p:grpSp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FB57FCFB-011E-43CA-B391-16B061ECF830}"/>
                  </a:ext>
                </a:extLst>
              </p:cNvPr>
              <p:cNvSpPr txBox="1"/>
              <p:nvPr/>
            </p:nvSpPr>
            <p:spPr>
              <a:xfrm>
                <a:off x="20807128" y="13580619"/>
                <a:ext cx="3886830" cy="410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Node color: antibiotic class</a:t>
                </a:r>
              </a:p>
            </p:txBody>
          </p:sp>
        </p:grpSp>
        <p:grpSp>
          <p:nvGrpSpPr>
            <p:cNvPr id="62" name="Groupe 61">
              <a:extLst>
                <a:ext uri="{FF2B5EF4-FFF2-40B4-BE49-F238E27FC236}">
                  <a16:creationId xmlns:a16="http://schemas.microsoft.com/office/drawing/2014/main" id="{9DB5D5F2-BE93-4B38-8E18-7A338F1530C8}"/>
                </a:ext>
              </a:extLst>
            </p:cNvPr>
            <p:cNvGrpSpPr/>
            <p:nvPr/>
          </p:nvGrpSpPr>
          <p:grpSpPr>
            <a:xfrm>
              <a:off x="-11761" y="9267786"/>
              <a:ext cx="6822809" cy="781737"/>
              <a:chOff x="15364749" y="15235432"/>
              <a:chExt cx="7017943" cy="804095"/>
            </a:xfrm>
          </p:grpSpPr>
          <p:pic>
            <p:nvPicPr>
              <p:cNvPr id="63" name="Image 62">
                <a:extLst>
                  <a:ext uri="{FF2B5EF4-FFF2-40B4-BE49-F238E27FC236}">
                    <a16:creationId xmlns:a16="http://schemas.microsoft.com/office/drawing/2014/main" id="{5816A04D-EB27-47AC-893D-9D5B65FBF4B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698" t="44126" r="17367" b="45674"/>
              <a:stretch/>
            </p:blipFill>
            <p:spPr>
              <a:xfrm>
                <a:off x="15364749" y="15235432"/>
                <a:ext cx="7017943" cy="804095"/>
              </a:xfrm>
              <a:prstGeom prst="rect">
                <a:avLst/>
              </a:prstGeom>
            </p:spPr>
          </p:pic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15C506BC-D21C-4900-B8EA-0C0D852DBC1F}"/>
                  </a:ext>
                </a:extLst>
              </p:cNvPr>
              <p:cNvSpPr txBox="1"/>
              <p:nvPr/>
            </p:nvSpPr>
            <p:spPr>
              <a:xfrm>
                <a:off x="16634207" y="15289166"/>
                <a:ext cx="5258487" cy="41061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fr-FR" sz="1600" b="1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Line color: Association strength (cLift)</a:t>
                </a:r>
              </a:p>
            </p:txBody>
          </p:sp>
        </p:grpSp>
        <p:sp>
          <p:nvSpPr>
            <p:cNvPr id="65" name="ZoneTexte 64">
              <a:extLst>
                <a:ext uri="{FF2B5EF4-FFF2-40B4-BE49-F238E27FC236}">
                  <a16:creationId xmlns:a16="http://schemas.microsoft.com/office/drawing/2014/main" id="{2A7AB20B-39D1-422B-86BE-4CF83D985DAB}"/>
                </a:ext>
              </a:extLst>
            </p:cNvPr>
            <p:cNvSpPr txBox="1"/>
            <p:nvPr/>
          </p:nvSpPr>
          <p:spPr>
            <a:xfrm>
              <a:off x="1159456" y="10127417"/>
              <a:ext cx="5112274" cy="39919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fr-FR" sz="1600" b="1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 width: Association frequency (eSup)</a:t>
              </a:r>
            </a:p>
          </p:txBody>
        </p:sp>
        <p:sp>
          <p:nvSpPr>
            <p:cNvPr id="66" name="ZoneTexte 65">
              <a:extLst>
                <a:ext uri="{FF2B5EF4-FFF2-40B4-BE49-F238E27FC236}">
                  <a16:creationId xmlns:a16="http://schemas.microsoft.com/office/drawing/2014/main" id="{25A5BC36-0C30-4EE0-975C-9556351853D5}"/>
                </a:ext>
              </a:extLst>
            </p:cNvPr>
            <p:cNvSpPr txBox="1"/>
            <p:nvPr/>
          </p:nvSpPr>
          <p:spPr>
            <a:xfrm>
              <a:off x="8034701" y="10146970"/>
              <a:ext cx="5112274" cy="39919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fr-FR" sz="1600" b="1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 width: Association frequency (eSup)</a:t>
              </a:r>
            </a:p>
          </p:txBody>
        </p:sp>
        <p:sp>
          <p:nvSpPr>
            <p:cNvPr id="67" name="ZoneTexte 66">
              <a:extLst>
                <a:ext uri="{FF2B5EF4-FFF2-40B4-BE49-F238E27FC236}">
                  <a16:creationId xmlns:a16="http://schemas.microsoft.com/office/drawing/2014/main" id="{D7D6C8C0-92D4-441B-9748-89700F8117FB}"/>
                </a:ext>
              </a:extLst>
            </p:cNvPr>
            <p:cNvSpPr txBox="1"/>
            <p:nvPr/>
          </p:nvSpPr>
          <p:spPr>
            <a:xfrm>
              <a:off x="8156855" y="9308564"/>
              <a:ext cx="5112274" cy="39919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fr-FR" sz="1600" b="1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 color: Association strength (cLift)</a:t>
              </a:r>
            </a:p>
          </p:txBody>
        </p:sp>
      </p:grpSp>
      <p:sp>
        <p:nvSpPr>
          <p:cNvPr id="69" name="ZoneTexte 68">
            <a:extLst>
              <a:ext uri="{FF2B5EF4-FFF2-40B4-BE49-F238E27FC236}">
                <a16:creationId xmlns:a16="http://schemas.microsoft.com/office/drawing/2014/main" id="{15635CDA-79CD-4128-BD98-C712DF1E668E}"/>
              </a:ext>
            </a:extLst>
          </p:cNvPr>
          <p:cNvSpPr txBox="1"/>
          <p:nvPr/>
        </p:nvSpPr>
        <p:spPr>
          <a:xfrm>
            <a:off x="926713" y="3465850"/>
            <a:ext cx="189072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dirty="0">
                <a:latin typeface="Arial"/>
                <a:cs typeface="Arial"/>
              </a:rPr>
              <a:t>0.238 [0.234; 0.249]</a:t>
            </a:r>
            <a:endParaRPr lang="fr-FR" sz="1400" dirty="0"/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58A6FB0F-15EE-4CD0-8822-CC709A21152D}"/>
              </a:ext>
            </a:extLst>
          </p:cNvPr>
          <p:cNvSpPr txBox="1"/>
          <p:nvPr/>
        </p:nvSpPr>
        <p:spPr>
          <a:xfrm>
            <a:off x="3245678" y="3465850"/>
            <a:ext cx="189072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dirty="0">
                <a:latin typeface="Arial"/>
                <a:cs typeface="Arial"/>
              </a:rPr>
              <a:t>0.285 [0.283; 0.285]</a:t>
            </a:r>
            <a:endParaRPr lang="fr-FR" sz="1400" dirty="0"/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3A973B18-0FFA-43EC-B6BE-554171350E5E}"/>
              </a:ext>
            </a:extLst>
          </p:cNvPr>
          <p:cNvSpPr txBox="1"/>
          <p:nvPr/>
        </p:nvSpPr>
        <p:spPr>
          <a:xfrm>
            <a:off x="5564643" y="3465850"/>
            <a:ext cx="189072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dirty="0">
                <a:latin typeface="Arial"/>
                <a:cs typeface="Arial"/>
              </a:rPr>
              <a:t>0.281 [0.266; 0.290]</a:t>
            </a:r>
            <a:endParaRPr lang="fr-FR" sz="1400" dirty="0"/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D00EBF65-3F78-4447-9995-B8B58AC167EE}"/>
              </a:ext>
            </a:extLst>
          </p:cNvPr>
          <p:cNvSpPr txBox="1"/>
          <p:nvPr/>
        </p:nvSpPr>
        <p:spPr>
          <a:xfrm>
            <a:off x="7883608" y="3465850"/>
            <a:ext cx="189072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dirty="0">
                <a:latin typeface="Arial"/>
                <a:cs typeface="Arial"/>
              </a:rPr>
              <a:t>0.292 [0.288; 0.293]</a:t>
            </a:r>
            <a:endParaRPr lang="fr-FR" sz="1400" dirty="0"/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C41992D7-8A53-4E65-A8F5-627178D0FB06}"/>
              </a:ext>
            </a:extLst>
          </p:cNvPr>
          <p:cNvSpPr txBox="1"/>
          <p:nvPr/>
        </p:nvSpPr>
        <p:spPr>
          <a:xfrm>
            <a:off x="10202575" y="3465850"/>
            <a:ext cx="189072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dirty="0">
                <a:latin typeface="Arial"/>
                <a:cs typeface="Arial"/>
              </a:rPr>
              <a:t>0.301 [0.294; 0.302]</a:t>
            </a:r>
            <a:endParaRPr lang="fr-FR" sz="1400" dirty="0"/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8E309D44-0DC3-4F87-848D-4C03EB0BB267}"/>
              </a:ext>
            </a:extLst>
          </p:cNvPr>
          <p:cNvSpPr txBox="1"/>
          <p:nvPr/>
        </p:nvSpPr>
        <p:spPr>
          <a:xfrm>
            <a:off x="-3914" y="6460529"/>
            <a:ext cx="8763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dirty="0">
                <a:latin typeface="Arial"/>
                <a:cs typeface="Arial"/>
              </a:rPr>
              <a:t>Density</a:t>
            </a:r>
            <a:endParaRPr lang="fr-FR" sz="1400" dirty="0"/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001893B2-14A6-4F5A-8DD5-5C9188E58DA7}"/>
              </a:ext>
            </a:extLst>
          </p:cNvPr>
          <p:cNvSpPr txBox="1"/>
          <p:nvPr/>
        </p:nvSpPr>
        <p:spPr>
          <a:xfrm>
            <a:off x="926713" y="6460529"/>
            <a:ext cx="189072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dirty="0">
                <a:latin typeface="Arial"/>
                <a:cs typeface="Arial"/>
              </a:rPr>
              <a:t>0.074 [0.074; 0.074]</a:t>
            </a:r>
            <a:endParaRPr lang="fr-FR" sz="1400" dirty="0"/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1A49BAF5-8B7D-4E1F-A950-828DFF82E714}"/>
              </a:ext>
            </a:extLst>
          </p:cNvPr>
          <p:cNvSpPr txBox="1"/>
          <p:nvPr/>
        </p:nvSpPr>
        <p:spPr>
          <a:xfrm>
            <a:off x="3245678" y="6460529"/>
            <a:ext cx="189072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dirty="0">
                <a:latin typeface="Arial"/>
                <a:cs typeface="Arial"/>
              </a:rPr>
              <a:t>0.091 [0.091; 0.091]</a:t>
            </a:r>
            <a:endParaRPr lang="fr-FR" sz="1400" dirty="0"/>
          </a:p>
        </p:txBody>
      </p:sp>
      <p:sp>
        <p:nvSpPr>
          <p:cNvPr id="77" name="ZoneTexte 76">
            <a:extLst>
              <a:ext uri="{FF2B5EF4-FFF2-40B4-BE49-F238E27FC236}">
                <a16:creationId xmlns:a16="http://schemas.microsoft.com/office/drawing/2014/main" id="{8E6C76AB-68C8-4140-AFE1-9E31ED8BDD7D}"/>
              </a:ext>
            </a:extLst>
          </p:cNvPr>
          <p:cNvSpPr txBox="1"/>
          <p:nvPr/>
        </p:nvSpPr>
        <p:spPr>
          <a:xfrm>
            <a:off x="5564643" y="6460529"/>
            <a:ext cx="189072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dirty="0">
                <a:latin typeface="Arial"/>
                <a:cs typeface="Arial"/>
              </a:rPr>
              <a:t>0.088 [0.088; 0.088]</a:t>
            </a:r>
            <a:endParaRPr lang="fr-FR" sz="1400" dirty="0"/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22EBDBE-E1BE-4FB3-BE78-7E0C6B435E0C}"/>
              </a:ext>
            </a:extLst>
          </p:cNvPr>
          <p:cNvSpPr txBox="1"/>
          <p:nvPr/>
        </p:nvSpPr>
        <p:spPr>
          <a:xfrm>
            <a:off x="7883608" y="6460529"/>
            <a:ext cx="189072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dirty="0">
                <a:latin typeface="Arial"/>
                <a:cs typeface="Arial"/>
              </a:rPr>
              <a:t>0.097 [0.097; 0.097]</a:t>
            </a:r>
            <a:endParaRPr lang="fr-FR" sz="1400" dirty="0"/>
          </a:p>
        </p:txBody>
      </p:sp>
      <p:sp>
        <p:nvSpPr>
          <p:cNvPr id="79" name="ZoneTexte 78">
            <a:extLst>
              <a:ext uri="{FF2B5EF4-FFF2-40B4-BE49-F238E27FC236}">
                <a16:creationId xmlns:a16="http://schemas.microsoft.com/office/drawing/2014/main" id="{02A29C46-FC59-4F35-BF79-E73BCEB1BB26}"/>
              </a:ext>
            </a:extLst>
          </p:cNvPr>
          <p:cNvSpPr txBox="1"/>
          <p:nvPr/>
        </p:nvSpPr>
        <p:spPr>
          <a:xfrm>
            <a:off x="10202575" y="6460529"/>
            <a:ext cx="189072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dirty="0">
                <a:latin typeface="Arial"/>
                <a:cs typeface="Arial"/>
              </a:rPr>
              <a:t>0.100 [0.100; 0.103]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220666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4D1C7FD-A45D-4290-809B-4ADEE582AF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94" y="1108347"/>
            <a:ext cx="11412562" cy="4945347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FF6D6915-735D-485C-B2A8-AE8E23D6144A}"/>
              </a:ext>
            </a:extLst>
          </p:cNvPr>
          <p:cNvSpPr txBox="1"/>
          <p:nvPr/>
        </p:nvSpPr>
        <p:spPr>
          <a:xfrm>
            <a:off x="1562172" y="806981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2018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8D440F6-9BA5-4065-882B-F30CA68E3E2A}"/>
              </a:ext>
            </a:extLst>
          </p:cNvPr>
          <p:cNvSpPr txBox="1"/>
          <p:nvPr/>
        </p:nvSpPr>
        <p:spPr>
          <a:xfrm>
            <a:off x="3875066" y="806981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2019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672C366-E3EF-40B0-800B-E4F042DEFF8C}"/>
              </a:ext>
            </a:extLst>
          </p:cNvPr>
          <p:cNvSpPr txBox="1"/>
          <p:nvPr/>
        </p:nvSpPr>
        <p:spPr>
          <a:xfrm>
            <a:off x="6187960" y="806980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2020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5BD1AB5-662E-4CF6-86C1-D46BFD086047}"/>
              </a:ext>
            </a:extLst>
          </p:cNvPr>
          <p:cNvSpPr txBox="1"/>
          <p:nvPr/>
        </p:nvSpPr>
        <p:spPr>
          <a:xfrm>
            <a:off x="8500854" y="806981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2021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20FE92C-3ECB-42E8-AC0D-9749FE25B77F}"/>
              </a:ext>
            </a:extLst>
          </p:cNvPr>
          <p:cNvSpPr txBox="1"/>
          <p:nvPr/>
        </p:nvSpPr>
        <p:spPr>
          <a:xfrm>
            <a:off x="10813748" y="800570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2022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3A8A52D-A49E-406C-92EA-D52C8920597A}"/>
              </a:ext>
            </a:extLst>
          </p:cNvPr>
          <p:cNvSpPr txBox="1"/>
          <p:nvPr/>
        </p:nvSpPr>
        <p:spPr>
          <a:xfrm>
            <a:off x="-16853" y="4320381"/>
            <a:ext cx="76991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 dirty="0">
                <a:latin typeface="Arial"/>
                <a:cs typeface="Arial"/>
              </a:rPr>
              <a:t>Non-ESBL </a:t>
            </a:r>
            <a:r>
              <a:rPr lang="fr-FR" sz="1400" b="1" i="1" dirty="0">
                <a:latin typeface="Arial"/>
                <a:cs typeface="Arial"/>
              </a:rPr>
              <a:t>E. coli</a:t>
            </a:r>
            <a:endParaRPr lang="fr-FR" sz="1400" i="1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41F06AE-C952-45FC-BF87-6ADDCE40A775}"/>
              </a:ext>
            </a:extLst>
          </p:cNvPr>
          <p:cNvSpPr txBox="1"/>
          <p:nvPr/>
        </p:nvSpPr>
        <p:spPr>
          <a:xfrm>
            <a:off x="-16853" y="1975249"/>
            <a:ext cx="7710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 dirty="0">
                <a:latin typeface="Arial"/>
                <a:cs typeface="Arial"/>
              </a:rPr>
              <a:t>ESBL </a:t>
            </a:r>
            <a:r>
              <a:rPr lang="fr-FR" sz="1400" b="1" i="1" dirty="0">
                <a:latin typeface="Arial"/>
                <a:cs typeface="Arial"/>
              </a:rPr>
              <a:t>E. coli</a:t>
            </a:r>
            <a:endParaRPr lang="fr-FR" sz="1400" i="1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D445FAB-30B5-48C2-AF0A-89279CE2F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06" y="6142294"/>
            <a:ext cx="12599988" cy="315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11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C8D440F6-9BA5-4065-882B-F30CA68E3E2A}"/>
              </a:ext>
            </a:extLst>
          </p:cNvPr>
          <p:cNvSpPr txBox="1"/>
          <p:nvPr/>
        </p:nvSpPr>
        <p:spPr>
          <a:xfrm>
            <a:off x="1691482" y="863996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2019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672C366-E3EF-40B0-800B-E4F042DEFF8C}"/>
              </a:ext>
            </a:extLst>
          </p:cNvPr>
          <p:cNvSpPr txBox="1"/>
          <p:nvPr/>
        </p:nvSpPr>
        <p:spPr>
          <a:xfrm>
            <a:off x="4137466" y="863996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2020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5BD1AB5-662E-4CF6-86C1-D46BFD086047}"/>
              </a:ext>
            </a:extLst>
          </p:cNvPr>
          <p:cNvSpPr txBox="1"/>
          <p:nvPr/>
        </p:nvSpPr>
        <p:spPr>
          <a:xfrm>
            <a:off x="6533294" y="863997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2021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20FE92C-3ECB-42E8-AC0D-9749FE25B77F}"/>
              </a:ext>
            </a:extLst>
          </p:cNvPr>
          <p:cNvSpPr txBox="1"/>
          <p:nvPr/>
        </p:nvSpPr>
        <p:spPr>
          <a:xfrm>
            <a:off x="8929122" y="858415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2022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3A8A52D-A49E-406C-92EA-D52C8920597A}"/>
              </a:ext>
            </a:extLst>
          </p:cNvPr>
          <p:cNvSpPr txBox="1"/>
          <p:nvPr/>
        </p:nvSpPr>
        <p:spPr>
          <a:xfrm>
            <a:off x="0" y="3951049"/>
            <a:ext cx="76991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 dirty="0">
                <a:latin typeface="Arial"/>
                <a:cs typeface="Arial"/>
              </a:rPr>
              <a:t>Non-ESBL </a:t>
            </a:r>
            <a:r>
              <a:rPr lang="fr-FR" sz="1400" b="1" i="1" dirty="0">
                <a:latin typeface="Arial"/>
                <a:cs typeface="Arial"/>
              </a:rPr>
              <a:t>E. coli</a:t>
            </a:r>
            <a:endParaRPr lang="fr-FR" sz="1400" i="1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41F06AE-C952-45FC-BF87-6ADDCE40A775}"/>
              </a:ext>
            </a:extLst>
          </p:cNvPr>
          <p:cNvSpPr txBox="1"/>
          <p:nvPr/>
        </p:nvSpPr>
        <p:spPr>
          <a:xfrm>
            <a:off x="-16853" y="1975249"/>
            <a:ext cx="7710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 dirty="0">
                <a:latin typeface="Arial"/>
                <a:cs typeface="Arial"/>
              </a:rPr>
              <a:t>ESBL </a:t>
            </a:r>
            <a:r>
              <a:rPr lang="fr-FR" sz="1400" b="1" i="1" dirty="0">
                <a:latin typeface="Arial"/>
                <a:cs typeface="Arial"/>
              </a:rPr>
              <a:t>E. coli</a:t>
            </a:r>
            <a:endParaRPr lang="fr-FR" sz="1400" i="1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D445FAB-30B5-48C2-AF0A-89279CE2F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06" y="6336605"/>
            <a:ext cx="10369152" cy="259349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008D93F-C426-48BE-B0F9-245C3AE7C47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741"/>
          <a:stretch/>
        </p:blipFill>
        <p:spPr>
          <a:xfrm>
            <a:off x="865153" y="1307171"/>
            <a:ext cx="9649072" cy="2059591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9508321-84DC-4FA2-9542-2ACE1A774B2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41"/>
          <a:stretch/>
        </p:blipFill>
        <p:spPr>
          <a:xfrm>
            <a:off x="827386" y="3744309"/>
            <a:ext cx="9649072" cy="2059591"/>
          </a:xfrm>
          <a:prstGeom prst="rect">
            <a:avLst/>
          </a:prstGeom>
        </p:spPr>
      </p:pic>
      <p:graphicFrame>
        <p:nvGraphicFramePr>
          <p:cNvPr id="14" name="Tableau 3">
            <a:extLst>
              <a:ext uri="{FF2B5EF4-FFF2-40B4-BE49-F238E27FC236}">
                <a16:creationId xmlns:a16="http://schemas.microsoft.com/office/drawing/2014/main" id="{258E0CD5-59B2-4B6D-9E02-5C1BED3AC7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186266"/>
              </p:ext>
            </p:extLst>
          </p:nvPr>
        </p:nvGraphicFramePr>
        <p:xfrm>
          <a:off x="-2362" y="3426134"/>
          <a:ext cx="1278307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325">
                  <a:extLst>
                    <a:ext uri="{9D8B030D-6E8A-4147-A177-3AD203B41FA5}">
                      <a16:colId xmlns:a16="http://schemas.microsoft.com/office/drawing/2014/main" val="1703629566"/>
                    </a:ext>
                  </a:extLst>
                </a:gridCol>
                <a:gridCol w="2597163">
                  <a:extLst>
                    <a:ext uri="{9D8B030D-6E8A-4147-A177-3AD203B41FA5}">
                      <a16:colId xmlns:a16="http://schemas.microsoft.com/office/drawing/2014/main" val="791467007"/>
                    </a:ext>
                  </a:extLst>
                </a:gridCol>
                <a:gridCol w="2418905">
                  <a:extLst>
                    <a:ext uri="{9D8B030D-6E8A-4147-A177-3AD203B41FA5}">
                      <a16:colId xmlns:a16="http://schemas.microsoft.com/office/drawing/2014/main" val="943490280"/>
                    </a:ext>
                  </a:extLst>
                </a:gridCol>
                <a:gridCol w="2309566">
                  <a:extLst>
                    <a:ext uri="{9D8B030D-6E8A-4147-A177-3AD203B41FA5}">
                      <a16:colId xmlns:a16="http://schemas.microsoft.com/office/drawing/2014/main" val="369987366"/>
                    </a:ext>
                  </a:extLst>
                </a:gridCol>
                <a:gridCol w="2373366">
                  <a:extLst>
                    <a:ext uri="{9D8B030D-6E8A-4147-A177-3AD203B41FA5}">
                      <a16:colId xmlns:a16="http://schemas.microsoft.com/office/drawing/2014/main" val="3615940755"/>
                    </a:ext>
                  </a:extLst>
                </a:gridCol>
                <a:gridCol w="2375751">
                  <a:extLst>
                    <a:ext uri="{9D8B030D-6E8A-4147-A177-3AD203B41FA5}">
                      <a16:colId xmlns:a16="http://schemas.microsoft.com/office/drawing/2014/main" val="704438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sz="14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0.240 ± 0.004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0.255 ± 0.005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0.279 ± 0.011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0.300 ± 0.008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648593"/>
                  </a:ext>
                </a:extLst>
              </a:tr>
            </a:tbl>
          </a:graphicData>
        </a:graphic>
      </p:graphicFrame>
      <p:sp>
        <p:nvSpPr>
          <p:cNvPr id="15" name="ZoneTexte 14">
            <a:extLst>
              <a:ext uri="{FF2B5EF4-FFF2-40B4-BE49-F238E27FC236}">
                <a16:creationId xmlns:a16="http://schemas.microsoft.com/office/drawing/2014/main" id="{62DDF300-D4F9-48F1-AA48-E877FAFA4FB3}"/>
              </a:ext>
            </a:extLst>
          </p:cNvPr>
          <p:cNvSpPr txBox="1"/>
          <p:nvPr/>
        </p:nvSpPr>
        <p:spPr>
          <a:xfrm>
            <a:off x="-11147" y="3454993"/>
            <a:ext cx="8763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dirty="0">
                <a:latin typeface="Arial"/>
                <a:cs typeface="Arial"/>
              </a:rPr>
              <a:t>Density</a:t>
            </a:r>
            <a:endParaRPr lang="fr-FR" sz="1400" dirty="0"/>
          </a:p>
        </p:txBody>
      </p:sp>
      <p:graphicFrame>
        <p:nvGraphicFramePr>
          <p:cNvPr id="16" name="Tableau 3">
            <a:extLst>
              <a:ext uri="{FF2B5EF4-FFF2-40B4-BE49-F238E27FC236}">
                <a16:creationId xmlns:a16="http://schemas.microsoft.com/office/drawing/2014/main" id="{9D77E9B9-5F8B-4B20-A7E0-9E0D400BD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979972"/>
              </p:ext>
            </p:extLst>
          </p:nvPr>
        </p:nvGraphicFramePr>
        <p:xfrm>
          <a:off x="-29944" y="5789304"/>
          <a:ext cx="1278307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325">
                  <a:extLst>
                    <a:ext uri="{9D8B030D-6E8A-4147-A177-3AD203B41FA5}">
                      <a16:colId xmlns:a16="http://schemas.microsoft.com/office/drawing/2014/main" val="1703629566"/>
                    </a:ext>
                  </a:extLst>
                </a:gridCol>
                <a:gridCol w="2597163">
                  <a:extLst>
                    <a:ext uri="{9D8B030D-6E8A-4147-A177-3AD203B41FA5}">
                      <a16:colId xmlns:a16="http://schemas.microsoft.com/office/drawing/2014/main" val="791467007"/>
                    </a:ext>
                  </a:extLst>
                </a:gridCol>
                <a:gridCol w="2418905">
                  <a:extLst>
                    <a:ext uri="{9D8B030D-6E8A-4147-A177-3AD203B41FA5}">
                      <a16:colId xmlns:a16="http://schemas.microsoft.com/office/drawing/2014/main" val="943490280"/>
                    </a:ext>
                  </a:extLst>
                </a:gridCol>
                <a:gridCol w="2309566">
                  <a:extLst>
                    <a:ext uri="{9D8B030D-6E8A-4147-A177-3AD203B41FA5}">
                      <a16:colId xmlns:a16="http://schemas.microsoft.com/office/drawing/2014/main" val="369987366"/>
                    </a:ext>
                  </a:extLst>
                </a:gridCol>
                <a:gridCol w="2373366">
                  <a:extLst>
                    <a:ext uri="{9D8B030D-6E8A-4147-A177-3AD203B41FA5}">
                      <a16:colId xmlns:a16="http://schemas.microsoft.com/office/drawing/2014/main" val="3615940755"/>
                    </a:ext>
                  </a:extLst>
                </a:gridCol>
                <a:gridCol w="2375751">
                  <a:extLst>
                    <a:ext uri="{9D8B030D-6E8A-4147-A177-3AD203B41FA5}">
                      <a16:colId xmlns:a16="http://schemas.microsoft.com/office/drawing/2014/main" val="704438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sz="14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0.094 ± 0.004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0.091 ± 0.002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0.104 ± 0.003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0.097 ± 0.001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648593"/>
                  </a:ext>
                </a:extLst>
              </a:tr>
            </a:tbl>
          </a:graphicData>
        </a:graphic>
      </p:graphicFrame>
      <p:sp>
        <p:nvSpPr>
          <p:cNvPr id="17" name="ZoneTexte 16">
            <a:extLst>
              <a:ext uri="{FF2B5EF4-FFF2-40B4-BE49-F238E27FC236}">
                <a16:creationId xmlns:a16="http://schemas.microsoft.com/office/drawing/2014/main" id="{158ECE84-B8F2-4D2E-8145-FBFAB23552D2}"/>
              </a:ext>
            </a:extLst>
          </p:cNvPr>
          <p:cNvSpPr txBox="1"/>
          <p:nvPr/>
        </p:nvSpPr>
        <p:spPr>
          <a:xfrm>
            <a:off x="-38729" y="5818163"/>
            <a:ext cx="8763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dirty="0">
                <a:latin typeface="Arial"/>
                <a:cs typeface="Arial"/>
              </a:rPr>
              <a:t>Density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326668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0D41A127-5E86-4ED0-921B-A1BFC42E9EE5}"/>
              </a:ext>
            </a:extLst>
          </p:cNvPr>
          <p:cNvSpPr txBox="1"/>
          <p:nvPr/>
        </p:nvSpPr>
        <p:spPr>
          <a:xfrm>
            <a:off x="1562172" y="803776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2018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099EF2B-928F-45D0-ADB2-796332CA7F1D}"/>
              </a:ext>
            </a:extLst>
          </p:cNvPr>
          <p:cNvSpPr txBox="1"/>
          <p:nvPr/>
        </p:nvSpPr>
        <p:spPr>
          <a:xfrm>
            <a:off x="3875066" y="803776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2019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21DA25D-8EF2-4FBD-82AD-25BA2347BD9F}"/>
              </a:ext>
            </a:extLst>
          </p:cNvPr>
          <p:cNvSpPr txBox="1"/>
          <p:nvPr/>
        </p:nvSpPr>
        <p:spPr>
          <a:xfrm>
            <a:off x="6187960" y="803776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2020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5FCF870-140B-427A-989B-BCD0A28CC4EE}"/>
              </a:ext>
            </a:extLst>
          </p:cNvPr>
          <p:cNvSpPr txBox="1"/>
          <p:nvPr/>
        </p:nvSpPr>
        <p:spPr>
          <a:xfrm>
            <a:off x="8500854" y="803776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2021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39447E6-54D1-4F8F-9063-5C87C3B99D9E}"/>
              </a:ext>
            </a:extLst>
          </p:cNvPr>
          <p:cNvSpPr txBox="1"/>
          <p:nvPr/>
        </p:nvSpPr>
        <p:spPr>
          <a:xfrm>
            <a:off x="-16853" y="4320381"/>
            <a:ext cx="76991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 dirty="0">
                <a:latin typeface="Arial"/>
                <a:cs typeface="Arial"/>
              </a:rPr>
              <a:t>Non-ESBL </a:t>
            </a:r>
            <a:r>
              <a:rPr lang="fr-FR" sz="1400" b="1" i="1" dirty="0">
                <a:latin typeface="Arial"/>
                <a:cs typeface="Arial"/>
              </a:rPr>
              <a:t>E. coli</a:t>
            </a:r>
            <a:endParaRPr lang="fr-FR" sz="1400" i="1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36C5915-A9EF-4D17-96FB-1673E9AE39FB}"/>
              </a:ext>
            </a:extLst>
          </p:cNvPr>
          <p:cNvSpPr txBox="1"/>
          <p:nvPr/>
        </p:nvSpPr>
        <p:spPr>
          <a:xfrm>
            <a:off x="-16853" y="1975249"/>
            <a:ext cx="7710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 dirty="0">
                <a:latin typeface="Arial"/>
                <a:cs typeface="Arial"/>
              </a:rPr>
              <a:t>ESBL </a:t>
            </a:r>
            <a:r>
              <a:rPr lang="fr-FR" sz="1400" b="1" i="1" dirty="0">
                <a:latin typeface="Arial"/>
                <a:cs typeface="Arial"/>
              </a:rPr>
              <a:t>E. coli</a:t>
            </a:r>
            <a:endParaRPr lang="fr-FR" sz="1400" i="1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830210BA-92B2-49AC-B699-E198087A5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2034" y="12174874"/>
            <a:ext cx="10372468" cy="2594325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FA37B398-859B-49F6-85BD-F923D5826065}"/>
              </a:ext>
            </a:extLst>
          </p:cNvPr>
          <p:cNvSpPr txBox="1"/>
          <p:nvPr/>
        </p:nvSpPr>
        <p:spPr>
          <a:xfrm>
            <a:off x="-31108" y="846518"/>
            <a:ext cx="54824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235B0E8-7FE3-43FD-90D1-E805050B4D3D}"/>
              </a:ext>
            </a:extLst>
          </p:cNvPr>
          <p:cNvSpPr txBox="1"/>
          <p:nvPr/>
        </p:nvSpPr>
        <p:spPr>
          <a:xfrm>
            <a:off x="-55295" y="6424851"/>
            <a:ext cx="54824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C66C86C-0F8F-4227-9909-4DB2C88081A3}"/>
              </a:ext>
            </a:extLst>
          </p:cNvPr>
          <p:cNvSpPr txBox="1"/>
          <p:nvPr/>
        </p:nvSpPr>
        <p:spPr>
          <a:xfrm>
            <a:off x="1302065" y="6498553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2018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91B59E0-B1B5-40D0-BBEE-DB1B6EF9A6CF}"/>
              </a:ext>
            </a:extLst>
          </p:cNvPr>
          <p:cNvSpPr txBox="1"/>
          <p:nvPr/>
        </p:nvSpPr>
        <p:spPr>
          <a:xfrm>
            <a:off x="3614959" y="6498553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2019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5B8E87A-21BC-4140-9494-5F4DAE22891E}"/>
              </a:ext>
            </a:extLst>
          </p:cNvPr>
          <p:cNvSpPr txBox="1"/>
          <p:nvPr/>
        </p:nvSpPr>
        <p:spPr>
          <a:xfrm>
            <a:off x="5927853" y="6498553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2020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3235365-3537-4393-A658-8C2B1A1F2CEF}"/>
              </a:ext>
            </a:extLst>
          </p:cNvPr>
          <p:cNvSpPr txBox="1"/>
          <p:nvPr/>
        </p:nvSpPr>
        <p:spPr>
          <a:xfrm>
            <a:off x="8240747" y="6498553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2021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1AED35F-AAAF-4CDD-8144-327C1355035F}"/>
              </a:ext>
            </a:extLst>
          </p:cNvPr>
          <p:cNvSpPr txBox="1"/>
          <p:nvPr/>
        </p:nvSpPr>
        <p:spPr>
          <a:xfrm>
            <a:off x="-276960" y="10015158"/>
            <a:ext cx="76991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 dirty="0">
                <a:latin typeface="Arial"/>
                <a:cs typeface="Arial"/>
              </a:rPr>
              <a:t>Non-ESBL </a:t>
            </a:r>
            <a:r>
              <a:rPr lang="fr-FR" sz="1400" b="1" i="1" dirty="0">
                <a:latin typeface="Arial"/>
                <a:cs typeface="Arial"/>
              </a:rPr>
              <a:t>E. coli</a:t>
            </a:r>
            <a:endParaRPr lang="fr-FR" sz="1400" i="1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2EC36B4-BFC8-46E1-978B-FEFA094DC225}"/>
              </a:ext>
            </a:extLst>
          </p:cNvPr>
          <p:cNvSpPr txBox="1"/>
          <p:nvPr/>
        </p:nvSpPr>
        <p:spPr>
          <a:xfrm>
            <a:off x="-276960" y="7670026"/>
            <a:ext cx="7710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 dirty="0">
                <a:latin typeface="Arial"/>
                <a:cs typeface="Arial"/>
              </a:rPr>
              <a:t>ESBL </a:t>
            </a:r>
            <a:r>
              <a:rPr lang="fr-FR" sz="1400" b="1" i="1" dirty="0">
                <a:latin typeface="Arial"/>
                <a:cs typeface="Arial"/>
              </a:rPr>
              <a:t>E. coli</a:t>
            </a:r>
            <a:endParaRPr lang="fr-FR" sz="1400" i="1" dirty="0"/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364507F0-C690-4D21-90BB-F40F3264B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088"/>
          <a:stretch/>
        </p:blipFill>
        <p:spPr>
          <a:xfrm>
            <a:off x="893403" y="1239357"/>
            <a:ext cx="9134544" cy="4953231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2268FE58-D804-4079-BC2F-380C30E2B9E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088"/>
          <a:stretch/>
        </p:blipFill>
        <p:spPr>
          <a:xfrm>
            <a:off x="753058" y="6882655"/>
            <a:ext cx="9134544" cy="495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640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6DE7F56-B86A-4B46-B06E-D01CEC7428A7}"/>
              </a:ext>
            </a:extLst>
          </p:cNvPr>
          <p:cNvSpPr txBox="1"/>
          <p:nvPr/>
        </p:nvSpPr>
        <p:spPr>
          <a:xfrm>
            <a:off x="-3914" y="1772124"/>
            <a:ext cx="7710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 dirty="0">
                <a:latin typeface="Arial"/>
                <a:cs typeface="Arial"/>
              </a:rPr>
              <a:t>ESBL </a:t>
            </a:r>
            <a:r>
              <a:rPr lang="fr-FR" sz="1400" b="1" i="1" dirty="0">
                <a:latin typeface="Arial"/>
                <a:cs typeface="Arial"/>
              </a:rPr>
              <a:t>E. coli</a:t>
            </a:r>
            <a:endParaRPr lang="fr-FR" sz="1400" i="1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7E9F352-4076-4143-95DB-1F2188DF99A0}"/>
              </a:ext>
            </a:extLst>
          </p:cNvPr>
          <p:cNvSpPr txBox="1"/>
          <p:nvPr/>
        </p:nvSpPr>
        <p:spPr>
          <a:xfrm>
            <a:off x="1562172" y="806981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2018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ABBE75C-8AD3-4C71-B550-8C3862EC2047}"/>
              </a:ext>
            </a:extLst>
          </p:cNvPr>
          <p:cNvSpPr txBox="1"/>
          <p:nvPr/>
        </p:nvSpPr>
        <p:spPr>
          <a:xfrm>
            <a:off x="3875066" y="806981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2019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3C3923F-9A27-40B8-9349-E8A16BFC0D53}"/>
              </a:ext>
            </a:extLst>
          </p:cNvPr>
          <p:cNvSpPr txBox="1"/>
          <p:nvPr/>
        </p:nvSpPr>
        <p:spPr>
          <a:xfrm>
            <a:off x="6187960" y="806980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2020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70E5D9E-D029-45B7-94F7-7D6A4DD35102}"/>
              </a:ext>
            </a:extLst>
          </p:cNvPr>
          <p:cNvSpPr txBox="1"/>
          <p:nvPr/>
        </p:nvSpPr>
        <p:spPr>
          <a:xfrm>
            <a:off x="8500854" y="806981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2021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1B36454-BE65-449E-9771-74F20B39687E}"/>
              </a:ext>
            </a:extLst>
          </p:cNvPr>
          <p:cNvSpPr txBox="1"/>
          <p:nvPr/>
        </p:nvSpPr>
        <p:spPr>
          <a:xfrm>
            <a:off x="10813748" y="800570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2022</a:t>
            </a:r>
          </a:p>
        </p:txBody>
      </p:sp>
      <p:graphicFrame>
        <p:nvGraphicFramePr>
          <p:cNvPr id="9" name="Tableau 3">
            <a:extLst>
              <a:ext uri="{FF2B5EF4-FFF2-40B4-BE49-F238E27FC236}">
                <a16:creationId xmlns:a16="http://schemas.microsoft.com/office/drawing/2014/main" id="{FF59BE82-FC62-4B99-B1EB-0FD62DE864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88268"/>
              </p:ext>
            </p:extLst>
          </p:nvPr>
        </p:nvGraphicFramePr>
        <p:xfrm>
          <a:off x="-3912" y="3497365"/>
          <a:ext cx="122008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062">
                  <a:extLst>
                    <a:ext uri="{9D8B030D-6E8A-4147-A177-3AD203B41FA5}">
                      <a16:colId xmlns:a16="http://schemas.microsoft.com/office/drawing/2014/main" val="1703629566"/>
                    </a:ext>
                  </a:extLst>
                </a:gridCol>
                <a:gridCol w="2478863">
                  <a:extLst>
                    <a:ext uri="{9D8B030D-6E8A-4147-A177-3AD203B41FA5}">
                      <a16:colId xmlns:a16="http://schemas.microsoft.com/office/drawing/2014/main" val="791467007"/>
                    </a:ext>
                  </a:extLst>
                </a:gridCol>
                <a:gridCol w="2308723">
                  <a:extLst>
                    <a:ext uri="{9D8B030D-6E8A-4147-A177-3AD203B41FA5}">
                      <a16:colId xmlns:a16="http://schemas.microsoft.com/office/drawing/2014/main" val="943490280"/>
                    </a:ext>
                  </a:extLst>
                </a:gridCol>
                <a:gridCol w="2204364">
                  <a:extLst>
                    <a:ext uri="{9D8B030D-6E8A-4147-A177-3AD203B41FA5}">
                      <a16:colId xmlns:a16="http://schemas.microsoft.com/office/drawing/2014/main" val="369987366"/>
                    </a:ext>
                  </a:extLst>
                </a:gridCol>
                <a:gridCol w="2265259">
                  <a:extLst>
                    <a:ext uri="{9D8B030D-6E8A-4147-A177-3AD203B41FA5}">
                      <a16:colId xmlns:a16="http://schemas.microsoft.com/office/drawing/2014/main" val="3615940755"/>
                    </a:ext>
                  </a:extLst>
                </a:gridCol>
                <a:gridCol w="2267533">
                  <a:extLst>
                    <a:ext uri="{9D8B030D-6E8A-4147-A177-3AD203B41FA5}">
                      <a16:colId xmlns:a16="http://schemas.microsoft.com/office/drawing/2014/main" val="704438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sz="14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0.424 [0.407; 0.440]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0.489 [0.467; 0.511]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0.501 [0,481; 0.520]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0.496 [0.475; 0.527]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noProof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0.498 [0.476; 0.519]</a:t>
                      </a:r>
                      <a:endParaRPr lang="fr-FR" sz="14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648593"/>
                  </a:ext>
                </a:extLst>
              </a:tr>
            </a:tbl>
          </a:graphicData>
        </a:graphic>
      </p:graphicFrame>
      <p:sp>
        <p:nvSpPr>
          <p:cNvPr id="11" name="ZoneTexte 10">
            <a:extLst>
              <a:ext uri="{FF2B5EF4-FFF2-40B4-BE49-F238E27FC236}">
                <a16:creationId xmlns:a16="http://schemas.microsoft.com/office/drawing/2014/main" id="{865EDC92-07DC-4AE9-9D60-BAC1618FC8FD}"/>
              </a:ext>
            </a:extLst>
          </p:cNvPr>
          <p:cNvSpPr txBox="1"/>
          <p:nvPr/>
        </p:nvSpPr>
        <p:spPr>
          <a:xfrm>
            <a:off x="-12700" y="3526224"/>
            <a:ext cx="8763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dirty="0">
                <a:latin typeface="Arial"/>
                <a:cs typeface="Arial"/>
              </a:rPr>
              <a:t>Density</a:t>
            </a:r>
            <a:endParaRPr lang="fr-FR" sz="1400" dirty="0"/>
          </a:p>
        </p:txBody>
      </p: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8A43D8A6-125C-47C8-B3A3-BD41507D2EFC}"/>
              </a:ext>
            </a:extLst>
          </p:cNvPr>
          <p:cNvGrpSpPr/>
          <p:nvPr/>
        </p:nvGrpSpPr>
        <p:grpSpPr>
          <a:xfrm>
            <a:off x="-12700" y="4072631"/>
            <a:ext cx="13080507" cy="3267895"/>
            <a:chOff x="-11761" y="7029150"/>
            <a:chExt cx="14496366" cy="3853226"/>
          </a:xfrm>
        </p:grpSpPr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3B31CB76-F02E-45B0-9E2F-B237482EB3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98" t="44126" r="17367" b="45674"/>
            <a:stretch/>
          </p:blipFill>
          <p:spPr>
            <a:xfrm>
              <a:off x="7110605" y="9267786"/>
              <a:ext cx="6822810" cy="781737"/>
            </a:xfrm>
            <a:prstGeom prst="rect">
              <a:avLst/>
            </a:prstGeom>
          </p:spPr>
        </p:pic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837EC0E0-1221-49D0-8BB7-C30FE16F9F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98" t="44126" r="17368" b="45674"/>
            <a:stretch/>
          </p:blipFill>
          <p:spPr>
            <a:xfrm>
              <a:off x="-11761" y="10100639"/>
              <a:ext cx="6822809" cy="781737"/>
            </a:xfrm>
            <a:prstGeom prst="rect">
              <a:avLst/>
            </a:prstGeom>
          </p:spPr>
        </p:pic>
        <p:pic>
          <p:nvPicPr>
            <p:cNvPr id="26" name="Image 25">
              <a:extLst>
                <a:ext uri="{FF2B5EF4-FFF2-40B4-BE49-F238E27FC236}">
                  <a16:creationId xmlns:a16="http://schemas.microsoft.com/office/drawing/2014/main" id="{4C3C5BF2-C89A-421E-AC21-2C20724721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98" t="44126" r="17367" b="45674"/>
            <a:stretch/>
          </p:blipFill>
          <p:spPr>
            <a:xfrm>
              <a:off x="7110607" y="10100639"/>
              <a:ext cx="6822809" cy="781737"/>
            </a:xfrm>
            <a:prstGeom prst="rect">
              <a:avLst/>
            </a:prstGeom>
          </p:spPr>
        </p:pic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61FB5681-26F9-4473-9021-36ED88145127}"/>
                </a:ext>
              </a:extLst>
            </p:cNvPr>
            <p:cNvGrpSpPr/>
            <p:nvPr/>
          </p:nvGrpSpPr>
          <p:grpSpPr>
            <a:xfrm>
              <a:off x="-11761" y="7029150"/>
              <a:ext cx="14496366" cy="2115159"/>
              <a:chOff x="15364749" y="12932770"/>
              <a:chExt cx="14910965" cy="2175653"/>
            </a:xfrm>
          </p:grpSpPr>
          <p:grpSp>
            <p:nvGrpSpPr>
              <p:cNvPr id="34" name="Groupe 33">
                <a:extLst>
                  <a:ext uri="{FF2B5EF4-FFF2-40B4-BE49-F238E27FC236}">
                    <a16:creationId xmlns:a16="http://schemas.microsoft.com/office/drawing/2014/main" id="{25F1A111-5444-4BC6-A6C2-F74276DDA9FD}"/>
                  </a:ext>
                </a:extLst>
              </p:cNvPr>
              <p:cNvGrpSpPr/>
              <p:nvPr/>
            </p:nvGrpSpPr>
            <p:grpSpPr>
              <a:xfrm>
                <a:off x="15364749" y="12932770"/>
                <a:ext cx="14910965" cy="2175653"/>
                <a:chOff x="15364749" y="12932770"/>
                <a:chExt cx="14910965" cy="2175653"/>
              </a:xfrm>
            </p:grpSpPr>
            <p:grpSp>
              <p:nvGrpSpPr>
                <p:cNvPr id="36" name="Groupe 35">
                  <a:extLst>
                    <a:ext uri="{FF2B5EF4-FFF2-40B4-BE49-F238E27FC236}">
                      <a16:creationId xmlns:a16="http://schemas.microsoft.com/office/drawing/2014/main" id="{85D2E8EE-7F64-459D-8B70-77543103FAD7}"/>
                    </a:ext>
                  </a:extLst>
                </p:cNvPr>
                <p:cNvGrpSpPr/>
                <p:nvPr/>
              </p:nvGrpSpPr>
              <p:grpSpPr>
                <a:xfrm>
                  <a:off x="15364749" y="12932770"/>
                  <a:ext cx="14910965" cy="2175653"/>
                  <a:chOff x="-1" y="2208356"/>
                  <a:chExt cx="14910965" cy="2175653"/>
                </a:xfrm>
              </p:grpSpPr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C9EACFF3-55E0-43E0-91F3-8559FCC04FAB}"/>
                      </a:ext>
                    </a:extLst>
                  </p:cNvPr>
                  <p:cNvSpPr/>
                  <p:nvPr/>
                </p:nvSpPr>
                <p:spPr>
                  <a:xfrm>
                    <a:off x="-1" y="2208356"/>
                    <a:ext cx="14344010" cy="2175653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/>
                  <a:p>
                    <a:endParaRPr lang="fr-FR" sz="389" dirty="0">
                      <a:solidFill>
                        <a:sysClr val="windowText" lastClr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D5C4F028-12E6-439C-B047-C2155590B832}"/>
                      </a:ext>
                    </a:extLst>
                  </p:cNvPr>
                  <p:cNvSpPr/>
                  <p:nvPr/>
                </p:nvSpPr>
                <p:spPr>
                  <a:xfrm>
                    <a:off x="2431818" y="2365729"/>
                    <a:ext cx="534525" cy="317902"/>
                  </a:xfrm>
                  <a:prstGeom prst="rect">
                    <a:avLst/>
                  </a:prstGeom>
                  <a:solidFill>
                    <a:srgbClr val="DCDCDC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0" name="ZoneTexte 39">
                    <a:extLst>
                      <a:ext uri="{FF2B5EF4-FFF2-40B4-BE49-F238E27FC236}">
                        <a16:creationId xmlns:a16="http://schemas.microsoft.com/office/drawing/2014/main" id="{259DD637-6258-4E60-A314-D9B41AEF9E86}"/>
                      </a:ext>
                    </a:extLst>
                  </p:cNvPr>
                  <p:cNvSpPr txBox="1"/>
                  <p:nvPr/>
                </p:nvSpPr>
                <p:spPr>
                  <a:xfrm>
                    <a:off x="2966343" y="2347439"/>
                    <a:ext cx="1978959" cy="41061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6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% Not tested</a:t>
                    </a:r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ABE2519C-9F42-4FAC-A83E-05C2C6904E0D}"/>
                      </a:ext>
                    </a:extLst>
                  </p:cNvPr>
                  <p:cNvSpPr/>
                  <p:nvPr/>
                </p:nvSpPr>
                <p:spPr>
                  <a:xfrm>
                    <a:off x="6709544" y="2347439"/>
                    <a:ext cx="534525" cy="31790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2" name="ZoneTexte 41">
                    <a:extLst>
                      <a:ext uri="{FF2B5EF4-FFF2-40B4-BE49-F238E27FC236}">
                        <a16:creationId xmlns:a16="http://schemas.microsoft.com/office/drawing/2014/main" id="{AB25891A-AE07-446D-8870-3BCA924745EA}"/>
                      </a:ext>
                    </a:extLst>
                  </p:cNvPr>
                  <p:cNvSpPr txBox="1"/>
                  <p:nvPr/>
                </p:nvSpPr>
                <p:spPr>
                  <a:xfrm>
                    <a:off x="7242395" y="2312982"/>
                    <a:ext cx="1978959" cy="41061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6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% Susceptible</a:t>
                    </a:r>
                  </a:p>
                </p:txBody>
              </p:sp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089D8612-535F-4024-A51D-691F2AD3A499}"/>
                      </a:ext>
                    </a:extLst>
                  </p:cNvPr>
                  <p:cNvSpPr/>
                  <p:nvPr/>
                </p:nvSpPr>
                <p:spPr>
                  <a:xfrm>
                    <a:off x="10992549" y="2364412"/>
                    <a:ext cx="534525" cy="317902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23C997"/>
                      </a:gs>
                      <a:gs pos="7000">
                        <a:srgbClr val="DCB702"/>
                      </a:gs>
                      <a:gs pos="82000">
                        <a:srgbClr val="FF7F40"/>
                      </a:gs>
                      <a:gs pos="27000">
                        <a:srgbClr val="3E7CA5"/>
                      </a:gs>
                      <a:gs pos="16000">
                        <a:srgbClr val="7EC8E3"/>
                      </a:gs>
                      <a:gs pos="70000">
                        <a:srgbClr val="EE637F"/>
                      </a:gs>
                      <a:gs pos="59000">
                        <a:srgbClr val="62C966"/>
                      </a:gs>
                      <a:gs pos="47000">
                        <a:srgbClr val="B155A7"/>
                      </a:gs>
                      <a:gs pos="38000">
                        <a:srgbClr val="D38ACB"/>
                      </a:gs>
                      <a:gs pos="93000">
                        <a:srgbClr val="BCED54"/>
                      </a:gs>
                    </a:gsLst>
                    <a:lin ang="0" scaled="1"/>
                    <a:tileRect/>
                  </a:gra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972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4" name="ZoneTexte 43">
                    <a:extLst>
                      <a:ext uri="{FF2B5EF4-FFF2-40B4-BE49-F238E27FC236}">
                        <a16:creationId xmlns:a16="http://schemas.microsoft.com/office/drawing/2014/main" id="{7C2E8F39-D3F9-4647-A07E-01DA1DD37EEF}"/>
                      </a:ext>
                    </a:extLst>
                  </p:cNvPr>
                  <p:cNvSpPr txBox="1"/>
                  <p:nvPr/>
                </p:nvSpPr>
                <p:spPr>
                  <a:xfrm>
                    <a:off x="11527074" y="2338697"/>
                    <a:ext cx="1978959" cy="41061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6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% Resistant</a:t>
                    </a:r>
                  </a:p>
                </p:txBody>
              </p:sp>
              <p:sp>
                <p:nvSpPr>
                  <p:cNvPr id="45" name="Ellipse 44">
                    <a:extLst>
                      <a:ext uri="{FF2B5EF4-FFF2-40B4-BE49-F238E27FC236}">
                        <a16:creationId xmlns:a16="http://schemas.microsoft.com/office/drawing/2014/main" id="{F96F1B09-2FDD-455A-94FB-073E52702D7E}"/>
                      </a:ext>
                    </a:extLst>
                  </p:cNvPr>
                  <p:cNvSpPr/>
                  <p:nvPr/>
                </p:nvSpPr>
                <p:spPr>
                  <a:xfrm>
                    <a:off x="78519" y="3361858"/>
                    <a:ext cx="210820" cy="210821"/>
                  </a:xfrm>
                  <a:prstGeom prst="ellipse">
                    <a:avLst/>
                  </a:prstGeom>
                  <a:solidFill>
                    <a:srgbClr val="23C99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6" name="Ellipse 45">
                    <a:extLst>
                      <a:ext uri="{FF2B5EF4-FFF2-40B4-BE49-F238E27FC236}">
                        <a16:creationId xmlns:a16="http://schemas.microsoft.com/office/drawing/2014/main" id="{B6492858-272F-4D06-9EA7-E51AD05987BF}"/>
                      </a:ext>
                    </a:extLst>
                  </p:cNvPr>
                  <p:cNvSpPr/>
                  <p:nvPr/>
                </p:nvSpPr>
                <p:spPr>
                  <a:xfrm>
                    <a:off x="3332763" y="3351544"/>
                    <a:ext cx="210820" cy="210820"/>
                  </a:xfrm>
                  <a:prstGeom prst="ellipse">
                    <a:avLst/>
                  </a:prstGeom>
                  <a:solidFill>
                    <a:srgbClr val="3E7CA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7" name="Ellipse 46">
                    <a:extLst>
                      <a:ext uri="{FF2B5EF4-FFF2-40B4-BE49-F238E27FC236}">
                        <a16:creationId xmlns:a16="http://schemas.microsoft.com/office/drawing/2014/main" id="{906A4748-6487-4EF0-9FC6-7A3EB94C435A}"/>
                      </a:ext>
                    </a:extLst>
                  </p:cNvPr>
                  <p:cNvSpPr/>
                  <p:nvPr/>
                </p:nvSpPr>
                <p:spPr>
                  <a:xfrm>
                    <a:off x="7203237" y="3361858"/>
                    <a:ext cx="210820" cy="210821"/>
                  </a:xfrm>
                  <a:prstGeom prst="ellipse">
                    <a:avLst/>
                  </a:prstGeom>
                  <a:solidFill>
                    <a:srgbClr val="B155A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8" name="Ellipse 47">
                    <a:extLst>
                      <a:ext uri="{FF2B5EF4-FFF2-40B4-BE49-F238E27FC236}">
                        <a16:creationId xmlns:a16="http://schemas.microsoft.com/office/drawing/2014/main" id="{DDA9AFF3-7484-4272-8F1D-97C9B1F8775D}"/>
                      </a:ext>
                    </a:extLst>
                  </p:cNvPr>
                  <p:cNvSpPr/>
                  <p:nvPr/>
                </p:nvSpPr>
                <p:spPr>
                  <a:xfrm>
                    <a:off x="10765595" y="3361858"/>
                    <a:ext cx="210820" cy="210821"/>
                  </a:xfrm>
                  <a:prstGeom prst="ellipse">
                    <a:avLst/>
                  </a:prstGeom>
                  <a:solidFill>
                    <a:srgbClr val="FDAC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9" name="Ellipse 48">
                    <a:extLst>
                      <a:ext uri="{FF2B5EF4-FFF2-40B4-BE49-F238E27FC236}">
                        <a16:creationId xmlns:a16="http://schemas.microsoft.com/office/drawing/2014/main" id="{FC2EDE3E-49DB-4791-8D72-39CC781187E3}"/>
                      </a:ext>
                    </a:extLst>
                  </p:cNvPr>
                  <p:cNvSpPr/>
                  <p:nvPr/>
                </p:nvSpPr>
                <p:spPr>
                  <a:xfrm>
                    <a:off x="78519" y="3668355"/>
                    <a:ext cx="210820" cy="210821"/>
                  </a:xfrm>
                  <a:prstGeom prst="ellipse">
                    <a:avLst/>
                  </a:prstGeom>
                  <a:solidFill>
                    <a:srgbClr val="DCB70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0" name="Ellipse 49">
                    <a:extLst>
                      <a:ext uri="{FF2B5EF4-FFF2-40B4-BE49-F238E27FC236}">
                        <a16:creationId xmlns:a16="http://schemas.microsoft.com/office/drawing/2014/main" id="{7DE154C8-AE82-4174-80B7-5DCE9DF3A78F}"/>
                      </a:ext>
                    </a:extLst>
                  </p:cNvPr>
                  <p:cNvSpPr/>
                  <p:nvPr/>
                </p:nvSpPr>
                <p:spPr>
                  <a:xfrm>
                    <a:off x="3332763" y="3658041"/>
                    <a:ext cx="210820" cy="210820"/>
                  </a:xfrm>
                  <a:prstGeom prst="ellipse">
                    <a:avLst/>
                  </a:prstGeom>
                  <a:solidFill>
                    <a:srgbClr val="F2B6EB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1" name="Ellipse 50">
                    <a:extLst>
                      <a:ext uri="{FF2B5EF4-FFF2-40B4-BE49-F238E27FC236}">
                        <a16:creationId xmlns:a16="http://schemas.microsoft.com/office/drawing/2014/main" id="{A1BE9F84-1BDD-42EA-A3DF-B229D780140B}"/>
                      </a:ext>
                    </a:extLst>
                  </p:cNvPr>
                  <p:cNvSpPr/>
                  <p:nvPr/>
                </p:nvSpPr>
                <p:spPr>
                  <a:xfrm>
                    <a:off x="7203237" y="3668355"/>
                    <a:ext cx="210820" cy="210821"/>
                  </a:xfrm>
                  <a:prstGeom prst="ellipse">
                    <a:avLst/>
                  </a:prstGeom>
                  <a:solidFill>
                    <a:srgbClr val="62C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2" name="Ellipse 51">
                    <a:extLst>
                      <a:ext uri="{FF2B5EF4-FFF2-40B4-BE49-F238E27FC236}">
                        <a16:creationId xmlns:a16="http://schemas.microsoft.com/office/drawing/2014/main" id="{2A198E91-7CA7-485F-B6F1-0EA11CB2106E}"/>
                      </a:ext>
                    </a:extLst>
                  </p:cNvPr>
                  <p:cNvSpPr/>
                  <p:nvPr/>
                </p:nvSpPr>
                <p:spPr>
                  <a:xfrm>
                    <a:off x="10765595" y="3668355"/>
                    <a:ext cx="210820" cy="210821"/>
                  </a:xfrm>
                  <a:prstGeom prst="ellipse">
                    <a:avLst/>
                  </a:prstGeom>
                  <a:solidFill>
                    <a:srgbClr val="FF7F4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3" name="Ellipse 52">
                    <a:extLst>
                      <a:ext uri="{FF2B5EF4-FFF2-40B4-BE49-F238E27FC236}">
                        <a16:creationId xmlns:a16="http://schemas.microsoft.com/office/drawing/2014/main" id="{9EC6AB5C-B4AA-4CF6-A660-BDFA78633365}"/>
                      </a:ext>
                    </a:extLst>
                  </p:cNvPr>
                  <p:cNvSpPr/>
                  <p:nvPr/>
                </p:nvSpPr>
                <p:spPr>
                  <a:xfrm>
                    <a:off x="78519" y="3966357"/>
                    <a:ext cx="210820" cy="210821"/>
                  </a:xfrm>
                  <a:prstGeom prst="ellipse">
                    <a:avLst/>
                  </a:prstGeom>
                  <a:solidFill>
                    <a:srgbClr val="7EC8E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4" name="Ellipse 53">
                    <a:extLst>
                      <a:ext uri="{FF2B5EF4-FFF2-40B4-BE49-F238E27FC236}">
                        <a16:creationId xmlns:a16="http://schemas.microsoft.com/office/drawing/2014/main" id="{9E8DBD95-D9F6-43A5-8E10-E2CCA0F6F814}"/>
                      </a:ext>
                    </a:extLst>
                  </p:cNvPr>
                  <p:cNvSpPr/>
                  <p:nvPr/>
                </p:nvSpPr>
                <p:spPr>
                  <a:xfrm>
                    <a:off x="3332763" y="3956043"/>
                    <a:ext cx="210820" cy="210820"/>
                  </a:xfrm>
                  <a:prstGeom prst="ellipse">
                    <a:avLst/>
                  </a:prstGeom>
                  <a:solidFill>
                    <a:srgbClr val="D38ACB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5" name="Ellipse 54">
                    <a:extLst>
                      <a:ext uri="{FF2B5EF4-FFF2-40B4-BE49-F238E27FC236}">
                        <a16:creationId xmlns:a16="http://schemas.microsoft.com/office/drawing/2014/main" id="{CF4EDFBB-B152-4F4D-82D6-B1C1DC892F35}"/>
                      </a:ext>
                    </a:extLst>
                  </p:cNvPr>
                  <p:cNvSpPr/>
                  <p:nvPr/>
                </p:nvSpPr>
                <p:spPr>
                  <a:xfrm>
                    <a:off x="7203237" y="3966357"/>
                    <a:ext cx="210820" cy="210821"/>
                  </a:xfrm>
                  <a:prstGeom prst="ellipse">
                    <a:avLst/>
                  </a:prstGeom>
                  <a:solidFill>
                    <a:srgbClr val="EE637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6" name="Ellipse 55">
                    <a:extLst>
                      <a:ext uri="{FF2B5EF4-FFF2-40B4-BE49-F238E27FC236}">
                        <a16:creationId xmlns:a16="http://schemas.microsoft.com/office/drawing/2014/main" id="{BD36CE02-B7EF-415D-982F-4477DA36D150}"/>
                      </a:ext>
                    </a:extLst>
                  </p:cNvPr>
                  <p:cNvSpPr/>
                  <p:nvPr/>
                </p:nvSpPr>
                <p:spPr>
                  <a:xfrm>
                    <a:off x="10765595" y="3966357"/>
                    <a:ext cx="210820" cy="210821"/>
                  </a:xfrm>
                  <a:prstGeom prst="ellipse">
                    <a:avLst/>
                  </a:prstGeom>
                  <a:solidFill>
                    <a:srgbClr val="BCED5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7" name="ZoneTexte 56">
                    <a:extLst>
                      <a:ext uri="{FF2B5EF4-FFF2-40B4-BE49-F238E27FC236}">
                        <a16:creationId xmlns:a16="http://schemas.microsoft.com/office/drawing/2014/main" id="{F353E84F-BA73-4167-9079-17600DEF2E76}"/>
                      </a:ext>
                    </a:extLst>
                  </p:cNvPr>
                  <p:cNvSpPr txBox="1"/>
                  <p:nvPr/>
                </p:nvSpPr>
                <p:spPr>
                  <a:xfrm>
                    <a:off x="336006" y="3277035"/>
                    <a:ext cx="236167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Aminoglycoside</a:t>
                    </a:r>
                  </a:p>
                </p:txBody>
              </p:sp>
              <p:sp>
                <p:nvSpPr>
                  <p:cNvPr id="58" name="ZoneTexte 57">
                    <a:extLst>
                      <a:ext uri="{FF2B5EF4-FFF2-40B4-BE49-F238E27FC236}">
                        <a16:creationId xmlns:a16="http://schemas.microsoft.com/office/drawing/2014/main" id="{5E258BDD-7AB3-4F2E-8FAE-97E3CA44CA0D}"/>
                      </a:ext>
                    </a:extLst>
                  </p:cNvPr>
                  <p:cNvSpPr txBox="1"/>
                  <p:nvPr/>
                </p:nvSpPr>
                <p:spPr>
                  <a:xfrm>
                    <a:off x="336006" y="3597456"/>
                    <a:ext cx="236167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Other</a:t>
                    </a:r>
                  </a:p>
                </p:txBody>
              </p:sp>
              <p:sp>
                <p:nvSpPr>
                  <p:cNvPr id="59" name="ZoneTexte 58">
                    <a:extLst>
                      <a:ext uri="{FF2B5EF4-FFF2-40B4-BE49-F238E27FC236}">
                        <a16:creationId xmlns:a16="http://schemas.microsoft.com/office/drawing/2014/main" id="{00F520C7-2BBA-4CBF-A3A7-53B051D09D3A}"/>
                      </a:ext>
                    </a:extLst>
                  </p:cNvPr>
                  <p:cNvSpPr txBox="1"/>
                  <p:nvPr/>
                </p:nvSpPr>
                <p:spPr>
                  <a:xfrm>
                    <a:off x="336006" y="3917878"/>
                    <a:ext cx="2679403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Large spectrum penicillin</a:t>
                    </a:r>
                  </a:p>
                </p:txBody>
              </p:sp>
              <p:sp>
                <p:nvSpPr>
                  <p:cNvPr id="60" name="ZoneTexte 59">
                    <a:extLst>
                      <a:ext uri="{FF2B5EF4-FFF2-40B4-BE49-F238E27FC236}">
                        <a16:creationId xmlns:a16="http://schemas.microsoft.com/office/drawing/2014/main" id="{DD54BD5F-6379-4A19-9C2C-829D4DCEE555}"/>
                      </a:ext>
                    </a:extLst>
                  </p:cNvPr>
                  <p:cNvSpPr txBox="1"/>
                  <p:nvPr/>
                </p:nvSpPr>
                <p:spPr>
                  <a:xfrm>
                    <a:off x="3543585" y="3277035"/>
                    <a:ext cx="3698811" cy="4023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Penicillin + beta-lactamase inhibitor</a:t>
                    </a:r>
                  </a:p>
                </p:txBody>
              </p:sp>
              <p:sp>
                <p:nvSpPr>
                  <p:cNvPr id="61" name="ZoneTexte 60">
                    <a:extLst>
                      <a:ext uri="{FF2B5EF4-FFF2-40B4-BE49-F238E27FC236}">
                        <a16:creationId xmlns:a16="http://schemas.microsoft.com/office/drawing/2014/main" id="{80ED4984-AA33-4644-B748-D21FB0F71B27}"/>
                      </a:ext>
                    </a:extLst>
                  </p:cNvPr>
                  <p:cNvSpPr txBox="1"/>
                  <p:nvPr/>
                </p:nvSpPr>
                <p:spPr>
                  <a:xfrm>
                    <a:off x="3526381" y="3597456"/>
                    <a:ext cx="3390378" cy="4023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Second gen. cephalosporin</a:t>
                    </a:r>
                  </a:p>
                </p:txBody>
              </p:sp>
              <p:sp>
                <p:nvSpPr>
                  <p:cNvPr id="62" name="ZoneTexte 61">
                    <a:extLst>
                      <a:ext uri="{FF2B5EF4-FFF2-40B4-BE49-F238E27FC236}">
                        <a16:creationId xmlns:a16="http://schemas.microsoft.com/office/drawing/2014/main" id="{56D97E73-07FB-48C2-B185-430F428F3506}"/>
                      </a:ext>
                    </a:extLst>
                  </p:cNvPr>
                  <p:cNvSpPr txBox="1"/>
                  <p:nvPr/>
                </p:nvSpPr>
                <p:spPr>
                  <a:xfrm>
                    <a:off x="3526381" y="3917878"/>
                    <a:ext cx="3390378" cy="4023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Third gen. cephalosporin</a:t>
                    </a:r>
                  </a:p>
                </p:txBody>
              </p:sp>
              <p:sp>
                <p:nvSpPr>
                  <p:cNvPr id="63" name="ZoneTexte 62">
                    <a:extLst>
                      <a:ext uri="{FF2B5EF4-FFF2-40B4-BE49-F238E27FC236}">
                        <a16:creationId xmlns:a16="http://schemas.microsoft.com/office/drawing/2014/main" id="{A3A4316D-7633-49E6-87D4-C58F1C80541A}"/>
                      </a:ext>
                    </a:extLst>
                  </p:cNvPr>
                  <p:cNvSpPr txBox="1"/>
                  <p:nvPr/>
                </p:nvSpPr>
                <p:spPr>
                  <a:xfrm>
                    <a:off x="7461396" y="3325515"/>
                    <a:ext cx="314822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 err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Fourth</a:t>
                    </a:r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gen. cephalosporin</a:t>
                    </a:r>
                  </a:p>
                </p:txBody>
              </p:sp>
              <p:sp>
                <p:nvSpPr>
                  <p:cNvPr id="64" name="ZoneTexte 63">
                    <a:extLst>
                      <a:ext uri="{FF2B5EF4-FFF2-40B4-BE49-F238E27FC236}">
                        <a16:creationId xmlns:a16="http://schemas.microsoft.com/office/drawing/2014/main" id="{3E6B7ACA-D025-43FD-8BD5-60AE1331076B}"/>
                      </a:ext>
                    </a:extLst>
                  </p:cNvPr>
                  <p:cNvSpPr txBox="1"/>
                  <p:nvPr/>
                </p:nvSpPr>
                <p:spPr>
                  <a:xfrm>
                    <a:off x="7491011" y="3615926"/>
                    <a:ext cx="236167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Carbapenem</a:t>
                    </a:r>
                  </a:p>
                </p:txBody>
              </p:sp>
              <p:sp>
                <p:nvSpPr>
                  <p:cNvPr id="65" name="ZoneTexte 64">
                    <a:extLst>
                      <a:ext uri="{FF2B5EF4-FFF2-40B4-BE49-F238E27FC236}">
                        <a16:creationId xmlns:a16="http://schemas.microsoft.com/office/drawing/2014/main" id="{B9003718-573C-4278-8925-A5B358960EB8}"/>
                      </a:ext>
                    </a:extLst>
                  </p:cNvPr>
                  <p:cNvSpPr txBox="1"/>
                  <p:nvPr/>
                </p:nvSpPr>
                <p:spPr>
                  <a:xfrm>
                    <a:off x="7491012" y="3936347"/>
                    <a:ext cx="276361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Nitrofuran derivative</a:t>
                    </a:r>
                  </a:p>
                </p:txBody>
              </p:sp>
              <p:sp>
                <p:nvSpPr>
                  <p:cNvPr id="66" name="ZoneTexte 65">
                    <a:extLst>
                      <a:ext uri="{FF2B5EF4-FFF2-40B4-BE49-F238E27FC236}">
                        <a16:creationId xmlns:a16="http://schemas.microsoft.com/office/drawing/2014/main" id="{F4C9B66B-D6B2-4F27-96E9-8F0B4D2637D9}"/>
                      </a:ext>
                    </a:extLst>
                  </p:cNvPr>
                  <p:cNvSpPr txBox="1"/>
                  <p:nvPr/>
                </p:nvSpPr>
                <p:spPr>
                  <a:xfrm>
                    <a:off x="11024091" y="3304047"/>
                    <a:ext cx="236167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Fluoroquinolone</a:t>
                    </a:r>
                  </a:p>
                </p:txBody>
              </p:sp>
              <p:sp>
                <p:nvSpPr>
                  <p:cNvPr id="67" name="ZoneTexte 66">
                    <a:extLst>
                      <a:ext uri="{FF2B5EF4-FFF2-40B4-BE49-F238E27FC236}">
                        <a16:creationId xmlns:a16="http://schemas.microsoft.com/office/drawing/2014/main" id="{79FB26EA-837A-40DE-A0BC-3469359E1FB3}"/>
                      </a:ext>
                    </a:extLst>
                  </p:cNvPr>
                  <p:cNvSpPr txBox="1"/>
                  <p:nvPr/>
                </p:nvSpPr>
                <p:spPr>
                  <a:xfrm>
                    <a:off x="11024091" y="3624468"/>
                    <a:ext cx="236167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Other quinolone</a:t>
                    </a:r>
                  </a:p>
                </p:txBody>
              </p:sp>
              <p:sp>
                <p:nvSpPr>
                  <p:cNvPr id="68" name="ZoneTexte 67">
                    <a:extLst>
                      <a:ext uri="{FF2B5EF4-FFF2-40B4-BE49-F238E27FC236}">
                        <a16:creationId xmlns:a16="http://schemas.microsoft.com/office/drawing/2014/main" id="{8CBB6A58-71ED-4FA4-9B8D-42C6E3A49222}"/>
                      </a:ext>
                    </a:extLst>
                  </p:cNvPr>
                  <p:cNvSpPr txBox="1"/>
                  <p:nvPr/>
                </p:nvSpPr>
                <p:spPr>
                  <a:xfrm>
                    <a:off x="11024092" y="3944887"/>
                    <a:ext cx="388687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 err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Trimethoprim</a:t>
                    </a:r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/ </a:t>
                    </a:r>
                    <a:r>
                      <a:rPr lang="fr-FR" sz="1556" spc="-49" dirty="0" err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Sulfamethoxazole</a:t>
                    </a:r>
                    <a:endParaRPr lang="fr-FR" sz="1556" spc="-49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7" name="ZoneTexte 36">
                  <a:extLst>
                    <a:ext uri="{FF2B5EF4-FFF2-40B4-BE49-F238E27FC236}">
                      <a16:creationId xmlns:a16="http://schemas.microsoft.com/office/drawing/2014/main" id="{9514457B-6E4B-44F4-B392-9182D74FBAA3}"/>
                    </a:ext>
                  </a:extLst>
                </p:cNvPr>
                <p:cNvSpPr txBox="1"/>
                <p:nvPr/>
              </p:nvSpPr>
              <p:spPr>
                <a:xfrm>
                  <a:off x="15474159" y="13042236"/>
                  <a:ext cx="2242604" cy="4106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fr-FR" sz="1600" b="1" dirty="0">
                      <a:solidFill>
                        <a:sysClr val="windowText" lastClr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Node Pie chart: </a:t>
                  </a:r>
                </a:p>
              </p:txBody>
            </p:sp>
          </p:grpSp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268FBE94-9A6B-4923-B8CC-D59023DF9C97}"/>
                  </a:ext>
                </a:extLst>
              </p:cNvPr>
              <p:cNvSpPr txBox="1"/>
              <p:nvPr/>
            </p:nvSpPr>
            <p:spPr>
              <a:xfrm>
                <a:off x="20807128" y="13580619"/>
                <a:ext cx="3886830" cy="410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Node color: antibiotic class</a:t>
                </a:r>
              </a:p>
            </p:txBody>
          </p:sp>
        </p:grpSp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67C6BA10-95DC-43B5-8066-7643D72F6921}"/>
                </a:ext>
              </a:extLst>
            </p:cNvPr>
            <p:cNvGrpSpPr/>
            <p:nvPr/>
          </p:nvGrpSpPr>
          <p:grpSpPr>
            <a:xfrm>
              <a:off x="-11761" y="9267786"/>
              <a:ext cx="6822809" cy="781737"/>
              <a:chOff x="15364749" y="15235432"/>
              <a:chExt cx="7017943" cy="804095"/>
            </a:xfrm>
          </p:grpSpPr>
          <p:pic>
            <p:nvPicPr>
              <p:cNvPr id="32" name="Image 31">
                <a:extLst>
                  <a:ext uri="{FF2B5EF4-FFF2-40B4-BE49-F238E27FC236}">
                    <a16:creationId xmlns:a16="http://schemas.microsoft.com/office/drawing/2014/main" id="{70A47509-051C-4C9C-B635-DEE151BA11E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698" t="44126" r="17367" b="45674"/>
              <a:stretch/>
            </p:blipFill>
            <p:spPr>
              <a:xfrm>
                <a:off x="15364749" y="15235432"/>
                <a:ext cx="7017943" cy="804095"/>
              </a:xfrm>
              <a:prstGeom prst="rect">
                <a:avLst/>
              </a:prstGeom>
            </p:spPr>
          </p:pic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69C2B68F-5905-400F-8245-8F420939AC59}"/>
                  </a:ext>
                </a:extLst>
              </p:cNvPr>
              <p:cNvSpPr txBox="1"/>
              <p:nvPr/>
            </p:nvSpPr>
            <p:spPr>
              <a:xfrm>
                <a:off x="16634207" y="15289166"/>
                <a:ext cx="5258487" cy="41061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fr-FR" sz="1600" b="1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Line color: Association strength (cLift)</a:t>
                </a:r>
              </a:p>
            </p:txBody>
          </p:sp>
        </p:grp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58CDDDA8-FAFB-4FD4-91DE-18CD3EC3E003}"/>
                </a:ext>
              </a:extLst>
            </p:cNvPr>
            <p:cNvSpPr txBox="1"/>
            <p:nvPr/>
          </p:nvSpPr>
          <p:spPr>
            <a:xfrm>
              <a:off x="1159456" y="10127417"/>
              <a:ext cx="5112274" cy="39919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fr-FR" sz="1600" b="1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 width: Association frequency (eSup)</a:t>
              </a:r>
            </a:p>
          </p:txBody>
        </p: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B24423FA-A637-40A4-8EB0-E1E135EB758D}"/>
                </a:ext>
              </a:extLst>
            </p:cNvPr>
            <p:cNvSpPr txBox="1"/>
            <p:nvPr/>
          </p:nvSpPr>
          <p:spPr>
            <a:xfrm>
              <a:off x="8034701" y="10146970"/>
              <a:ext cx="5112274" cy="39919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fr-FR" sz="1600" b="1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 width: Association frequency (eSup)</a:t>
              </a:r>
            </a:p>
          </p:txBody>
        </p: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3110A61F-37CF-489E-8A2B-7A2BA3C4735F}"/>
                </a:ext>
              </a:extLst>
            </p:cNvPr>
            <p:cNvSpPr txBox="1"/>
            <p:nvPr/>
          </p:nvSpPr>
          <p:spPr>
            <a:xfrm>
              <a:off x="8156855" y="9308564"/>
              <a:ext cx="5112274" cy="39919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fr-FR" sz="1600" b="1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 color: Association strength (cLift)</a:t>
              </a:r>
            </a:p>
          </p:txBody>
        </p:sp>
      </p:grpSp>
      <p:pic>
        <p:nvPicPr>
          <p:cNvPr id="4950" name="Image 4949">
            <a:extLst>
              <a:ext uri="{FF2B5EF4-FFF2-40B4-BE49-F238E27FC236}">
                <a16:creationId xmlns:a16="http://schemas.microsoft.com/office/drawing/2014/main" id="{A753E86D-92D2-407F-ADF7-A3F064FA86B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1581"/>
          <a:stretch/>
        </p:blipFill>
        <p:spPr>
          <a:xfrm>
            <a:off x="10099320" y="1201130"/>
            <a:ext cx="2097571" cy="2043430"/>
          </a:xfrm>
          <a:prstGeom prst="rect">
            <a:avLst/>
          </a:prstGeom>
        </p:spPr>
      </p:pic>
      <p:pic>
        <p:nvPicPr>
          <p:cNvPr id="4952" name="Image 4951">
            <a:extLst>
              <a:ext uri="{FF2B5EF4-FFF2-40B4-BE49-F238E27FC236}">
                <a16:creationId xmlns:a16="http://schemas.microsoft.com/office/drawing/2014/main" id="{3D67CB0E-B94E-4F54-8F8D-05538D33D2B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1320"/>
          <a:stretch/>
        </p:blipFill>
        <p:spPr>
          <a:xfrm>
            <a:off x="7789135" y="1198103"/>
            <a:ext cx="2097570" cy="2049484"/>
          </a:xfrm>
          <a:prstGeom prst="rect">
            <a:avLst/>
          </a:prstGeom>
        </p:spPr>
      </p:pic>
      <p:pic>
        <p:nvPicPr>
          <p:cNvPr id="4953" name="Image 4952">
            <a:extLst>
              <a:ext uri="{FF2B5EF4-FFF2-40B4-BE49-F238E27FC236}">
                <a16:creationId xmlns:a16="http://schemas.microsoft.com/office/drawing/2014/main" id="{C0B3D75C-89BF-4CC3-A2C7-BFED6FAACA2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2285"/>
          <a:stretch/>
        </p:blipFill>
        <p:spPr>
          <a:xfrm>
            <a:off x="5478948" y="1209261"/>
            <a:ext cx="2097571" cy="2027168"/>
          </a:xfrm>
          <a:prstGeom prst="rect">
            <a:avLst/>
          </a:prstGeom>
        </p:spPr>
      </p:pic>
      <p:pic>
        <p:nvPicPr>
          <p:cNvPr id="4954" name="Image 4953">
            <a:extLst>
              <a:ext uri="{FF2B5EF4-FFF2-40B4-BE49-F238E27FC236}">
                <a16:creationId xmlns:a16="http://schemas.microsoft.com/office/drawing/2014/main" id="{1403F741-952E-4DA2-A3DE-E8CD150C568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1293"/>
          <a:stretch/>
        </p:blipFill>
        <p:spPr>
          <a:xfrm>
            <a:off x="3171274" y="1197794"/>
            <a:ext cx="2095058" cy="2050103"/>
          </a:xfrm>
          <a:prstGeom prst="rect">
            <a:avLst/>
          </a:prstGeom>
        </p:spPr>
      </p:pic>
      <p:pic>
        <p:nvPicPr>
          <p:cNvPr id="5910" name="Image 5909">
            <a:extLst>
              <a:ext uri="{FF2B5EF4-FFF2-40B4-BE49-F238E27FC236}">
                <a16:creationId xmlns:a16="http://schemas.microsoft.com/office/drawing/2014/main" id="{AC0975C4-CD60-487B-A5EB-A44BFF773742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12285"/>
          <a:stretch/>
        </p:blipFill>
        <p:spPr>
          <a:xfrm>
            <a:off x="863600" y="1209261"/>
            <a:ext cx="2095058" cy="202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9994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2629</TotalTime>
  <Words>503</Words>
  <Application>Microsoft Office PowerPoint</Application>
  <PresentationFormat>Personnalisé</PresentationFormat>
  <Paragraphs>152</Paragraphs>
  <Slides>6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elise, hodbert</dc:creator>
  <cp:keywords/>
  <dc:description/>
  <cp:lastModifiedBy>HODBERT Elise</cp:lastModifiedBy>
  <cp:revision>21</cp:revision>
  <dcterms:created xsi:type="dcterms:W3CDTF">2017-02-13T16:18:36Z</dcterms:created>
  <dcterms:modified xsi:type="dcterms:W3CDTF">2025-10-27T11:17:58Z</dcterms:modified>
  <cp:category/>
</cp:coreProperties>
</file>